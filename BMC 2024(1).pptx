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4"/>
    <p:restoredTop sz="94672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A7E7-C629-C5D9-4D93-16FF3C238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88388-2084-2F96-E970-BEB0EB695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99AFA-6A37-C17C-9DF0-FF8156DC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1EFC1-1712-1D4A-B844-FC82768D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B1C2E-B3C2-7C90-A7DA-5ACD4073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2E42-F917-1227-078F-34DA3B8A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BCD3-62B1-7FA4-51EB-55855BB05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B5B9-786B-6754-671A-6D7EDACA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100F7-8788-BDC0-4409-A3DDB245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04FF-E879-A627-4CEC-2441F3F2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2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4D6A0-D8C3-B7C2-25A8-F52989EB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05EAB-8656-F40B-5A58-E3B7490BF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4D48D-0C9B-222F-4ECB-61407D10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820FD-E09D-31FD-E959-2CD0D9CC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05BF0-0832-C88A-2AD7-EB297EAE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9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3886-9D5D-CB30-F7C0-8003ED57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9D04D-265F-095F-CD05-CB6181130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47329-0634-1D2D-3589-FAB6DA3B8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9D3AD-9A5A-BC99-7925-96B7AA20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AD956-FF6C-22FB-3863-0623FE96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48BA5-BC5A-2145-F8DD-963A5D53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5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70D8-E442-2FEF-1875-253BA844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1B6BB-A322-228C-8E9A-8F955B021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CC2C2-3D85-6A6C-AC22-B8CC42E3E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A88E2-73B0-2CC8-4F77-3B3BB153D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669BF-606D-50EE-7548-359240BA2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79F5C-8123-0D49-C6FC-B9B822066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C862DF-28F0-689D-4C29-48DB6005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5497F-A0C3-EED0-CF77-0A186E04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3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C99F7-EB03-556E-70CD-FA2EFC91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AEBE8-7D57-D798-1DA1-0446B6322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E6692-8A44-03FA-BD24-22D03C93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4D9D6-A50A-0A6F-65C0-81F1DC75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9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6F71A-9250-9DF5-11B6-40DB4297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07B28-47A0-516D-A9FC-B4337D2B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CC37E-643D-6215-135D-344E19D1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5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46D4-4996-6C09-3A2A-20F2383B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3912-3C8A-E3B6-8AB5-8DA017BA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897C7-2A54-0470-8CE3-08B1E234D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6DCCE-3DC2-BE74-17A2-A0024F97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D6470-88BC-A136-EA85-C432F80B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F239B-1920-7FCA-A8CF-B45CB49E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0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709D0-F1FA-2471-D83B-B11C6468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7280F-F440-1BDB-96CA-7B20D9BAA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92C83-28AE-EBAC-BA97-008A067CC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E98D5-90E5-ED5D-DA1D-9236415F1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C3A89-BA93-0CAC-8C36-F242C0ED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36674-B217-1AEF-9C96-5B33F14AC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2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5977-2A72-3A54-8E31-806B18E6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5FA7F-3F91-32E5-487A-4D1CB6E2D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85A88-D298-51D5-9433-1A5DB9AA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E7359-986C-4E9B-CCFC-992E12D2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C4862-0845-3730-4BD9-9B9C75AD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6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DA2BB-6E08-A715-582D-BA193A531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C788B-AD47-6702-33B6-EC04346A3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4DEF6-B1E4-223C-1E0E-BA392349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0AF59-3C1D-B4E9-9396-3ADC4831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81FDF-FA9B-5969-F105-9FDB43AA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2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426F9-82A6-BA77-50F0-63D1C961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4645B-67E2-E61F-B224-FDF89A890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11055-6914-281A-2832-AB1C894B6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62BB4-7D96-9147-B00E-F7EBFCB844F3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EFA00-5F0E-D300-B29F-9869382F0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EFEF9-15A6-6E55-92F8-4FE6FE9D5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ABECC-B1ED-DA48-923D-389A0AF1B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94E6-CC1B-13B6-76D2-8BB10CE66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Model Canvas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30393-F885-15E0-8C34-21DEC1479B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7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E5C9-A418-264A-C1DB-EAE71CA9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kern="1200" cap="all" dirty="0">
                <a:latin typeface="+mj-lt"/>
                <a:ea typeface="+mj-ea"/>
                <a:cs typeface="+mj-cs"/>
              </a:rPr>
              <a:t>APA ITU MODEL BISNIS?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324AA-37DD-ADC5-A9EA-641569EA1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b="1" dirty="0">
                <a:latin typeface="+mn-lt"/>
                <a:cs typeface="+mn-cs"/>
              </a:rPr>
              <a:t>Sebuah model bisnis menjelaskan alasan tentang bagaimana organisasi menciptakan, memberikan, dan meng-</a:t>
            </a:r>
            <a:r>
              <a:rPr lang="en-US" altLang="en-US" b="1" i="1" dirty="0">
                <a:latin typeface="+mn-lt"/>
                <a:cs typeface="+mn-cs"/>
              </a:rPr>
              <a:t>capture </a:t>
            </a:r>
            <a:r>
              <a:rPr lang="en-US" altLang="en-US" b="1" dirty="0">
                <a:latin typeface="+mn-lt"/>
                <a:cs typeface="+mn-cs"/>
              </a:rPr>
              <a:t>nilai (Osterwalder and Pigneur, 2010)</a:t>
            </a:r>
          </a:p>
          <a:p>
            <a:pPr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altLang="en-US" b="1" dirty="0">
              <a:latin typeface="+mn-lt"/>
              <a:cs typeface="+mn-cs"/>
            </a:endParaRPr>
          </a:p>
          <a:p>
            <a:pPr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b="1" dirty="0">
                <a:latin typeface="+mn-lt"/>
                <a:cs typeface="+mn-cs"/>
              </a:rPr>
              <a:t>Model bisnis didefinisikan sebagai metode yang digunakan oleh perusahaan yang menghasilkan uang di lingkungan bisnis dimana perusahaan beroperasi (Wheelen and Hunger, 2010)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7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4752-421C-5FD5-BD70-7F9DB795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KRITERIA MODEL BISNIS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9F34-3F6D-9947-BC24-1FAC9789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Font typeface="Wingdings" pitchFamily="2" charset="2"/>
              <a:buChar char="ü"/>
              <a:defRPr/>
            </a:pPr>
            <a:r>
              <a:rPr lang="en-US" b="1" dirty="0">
                <a:latin typeface="Segoe UI" pitchFamily="34" charset="0"/>
                <a:cs typeface="Segoe UI" pitchFamily="34" charset="0"/>
              </a:rPr>
              <a:t>Sebuah model bisnis perlu memenuhi kriteria sebagai berikut : </a:t>
            </a:r>
          </a:p>
          <a:p>
            <a:pPr marL="628650">
              <a:buFont typeface="Wingdings" pitchFamily="2" charset="2"/>
              <a:buChar char="Ø"/>
              <a:defRPr/>
            </a:pPr>
            <a:r>
              <a:rPr lang="en-US" b="1" dirty="0">
                <a:latin typeface="Segoe UI" pitchFamily="34" charset="0"/>
                <a:cs typeface="Segoe UI" pitchFamily="34" charset="0"/>
              </a:rPr>
              <a:t> Simpel</a:t>
            </a:r>
          </a:p>
          <a:p>
            <a:pPr marL="628650">
              <a:buFont typeface="Wingdings" pitchFamily="2" charset="2"/>
              <a:buChar char="Ø"/>
              <a:defRPr/>
            </a:pPr>
            <a:r>
              <a:rPr lang="en-US" b="1" dirty="0">
                <a:latin typeface="Segoe UI" pitchFamily="34" charset="0"/>
                <a:cs typeface="Segoe UI" pitchFamily="34" charset="0"/>
              </a:rPr>
              <a:t> Relevan</a:t>
            </a:r>
          </a:p>
          <a:p>
            <a:pPr marL="628650">
              <a:buFont typeface="Wingdings" pitchFamily="2" charset="2"/>
              <a:buChar char="Ø"/>
              <a:defRPr/>
            </a:pPr>
            <a:r>
              <a:rPr lang="en-US" b="1" dirty="0">
                <a:latin typeface="Segoe UI" pitchFamily="34" charset="0"/>
                <a:cs typeface="Segoe UI" pitchFamily="34" charset="0"/>
              </a:rPr>
              <a:t> Secara intuisi mudah dimengerti</a:t>
            </a:r>
          </a:p>
          <a:p>
            <a:pPr marL="1143000" indent="-228600">
              <a:defRPr/>
            </a:pPr>
            <a:r>
              <a:rPr lang="en-US" dirty="0">
                <a:latin typeface="Segoe UI" pitchFamily="34" charset="0"/>
                <a:cs typeface="Segoe UI" pitchFamily="34" charset="0"/>
              </a:rPr>
              <a:t>Resep bagaimana sebuah perusahaan menghasilkan uang </a:t>
            </a:r>
          </a:p>
          <a:p>
            <a:pPr marL="1143000" indent="-228600">
              <a:defRPr/>
            </a:pPr>
            <a:r>
              <a:rPr lang="en-US" dirty="0">
                <a:latin typeface="Segoe UI" pitchFamily="34" charset="0"/>
                <a:cs typeface="Segoe UI" pitchFamily="34" charset="0"/>
              </a:rPr>
              <a:t>Kebutuhan untuk mencakup 4 area utama dalam bisnis : penawaran, pelanggan, infrastruktur, dan kelayakan finansial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25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47C5-AA16-9E47-CB25-00D827B37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cap="all" dirty="0">
                <a:latin typeface="+mj-lt"/>
                <a:ea typeface="+mj-ea"/>
                <a:cs typeface="+mj-cs"/>
              </a:rPr>
              <a:t>KONSEP MODEL BISNIS KANVAS</a:t>
            </a:r>
            <a:endParaRPr lang="en-US" dirty="0"/>
          </a:p>
        </p:txBody>
      </p:sp>
      <p:pic>
        <p:nvPicPr>
          <p:cNvPr id="4" name="Picture 4" descr="http://fivewhys.files.wordpress.com/2012/05/canvas.jpg">
            <a:extLst>
              <a:ext uri="{FF2B5EF4-FFF2-40B4-BE49-F238E27FC236}">
                <a16:creationId xmlns:a16="http://schemas.microsoft.com/office/drawing/2014/main" id="{6BB2AA0C-8720-3975-A5B9-ACC9EE6B36A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97016" y="1539982"/>
            <a:ext cx="6780296" cy="463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9141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CFA63-8F32-1F37-1E2C-550FC826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kern="1200" cap="all" dirty="0">
                <a:latin typeface="+mj-lt"/>
                <a:ea typeface="+mj-ea"/>
                <a:cs typeface="+mj-cs"/>
              </a:rPr>
              <a:t>9 </a:t>
            </a:r>
            <a:r>
              <a:rPr lang="en-US" sz="4400" b="0" i="1" kern="1200" cap="all" dirty="0">
                <a:latin typeface="+mj-lt"/>
                <a:ea typeface="+mj-ea"/>
                <a:cs typeface="+mj-cs"/>
              </a:rPr>
              <a:t>BUILDING BLOCKS </a:t>
            </a:r>
            <a:r>
              <a:rPr lang="en-US" sz="4400" b="0" kern="1200" cap="all" dirty="0">
                <a:latin typeface="+mj-lt"/>
                <a:ea typeface="+mj-ea"/>
                <a:cs typeface="+mj-cs"/>
              </a:rPr>
              <a:t>MODEL BISNIS KANVAS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F6D5F-E532-2494-B8C8-014DAE7DC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CUSTOMER SEGMENTS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– Sebuah organisasi melayani satu atau beberapa segmen pelanggan 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VALUE PROPOSITIONS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– Mengatasi masalah atau memuaskan kebutuhan pelanggan 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CHANNELS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 – Penyampaian </a:t>
            </a: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value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kepada pelanggan melalui komunikasi, distribusi, dan penjualan 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CUSTOMER RELATIONSHIPS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–  Bagaimana organisasi menjalin hubungan baik dengan pelanggan 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REVENUE STREAMS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 – </a:t>
            </a: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Value proposition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berhasil disampaikan kepada pelanggan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KEY RESOURCES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– Aset kunci yang diperlukan untuk memenuhi semua elemen yang disebutkan 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KEY ACTIVITIES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 – Aktivitas kunci yang dilakukan untuk mengimplementasikan semua elemen 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KEY PARTNERSHIPS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– Sumberdaya eksternal atau  </a:t>
            </a: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outsourced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yang dibutuhkan oleh aktivitas bisnis tersebut</a:t>
            </a:r>
          </a:p>
          <a:p>
            <a:pPr marL="457200" indent="-457200" defTabSz="457200" eaLnBrk="1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+mj-lt"/>
              <a:buAutoNum type="arabicPeriod"/>
            </a:pPr>
            <a:r>
              <a:rPr lang="en-US" alt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COST STRUCTURES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– Biaya utama yang diperlukan untuk memenuhi kelangsungan suatu bisnis</a:t>
            </a:r>
          </a:p>
        </p:txBody>
      </p:sp>
    </p:spTree>
    <p:extLst>
      <p:ext uri="{BB962C8B-B14F-4D97-AF65-F5344CB8AC3E}">
        <p14:creationId xmlns:p14="http://schemas.microsoft.com/office/powerpoint/2010/main" val="397305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3C82-D77C-A43E-E153-9AC1508C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CUSTOMER SEGMENTS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4DFF8F-72F3-457E-2836-9142ACD50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00200"/>
            <a:ext cx="8458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Didefinisikan: organisasi/perusahaan bertujuan untuk menjangkau dan melayani pelanggan yang merupakan “jantung” dari setiap model bisnis.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2A2E4-5CC3-C100-12C1-ECFFF13C7D77}"/>
              </a:ext>
            </a:extLst>
          </p:cNvPr>
          <p:cNvSpPr/>
          <p:nvPr/>
        </p:nvSpPr>
        <p:spPr>
          <a:xfrm>
            <a:off x="1383030" y="2849563"/>
            <a:ext cx="5017770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latin typeface="Segoe UI" pitchFamily="34" charset="0"/>
                <a:cs typeface="Segoe UI" pitchFamily="34" charset="0"/>
              </a:rPr>
              <a:t>•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Questions to ask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siapa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menciptakan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nilai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Siapa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paling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penting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B2B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vs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B2C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Dimanakah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mereka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tinggal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Berapa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usia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mereka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mereka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peroleh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mereka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berinteraksi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dengan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produk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/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jasa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24BF4-65CE-BE40-EEDD-F2CE09F6D907}"/>
              </a:ext>
            </a:extLst>
          </p:cNvPr>
          <p:cNvSpPr/>
          <p:nvPr/>
        </p:nvSpPr>
        <p:spPr>
          <a:xfrm>
            <a:off x="6400800" y="2849564"/>
            <a:ext cx="4267200" cy="30940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CUST. SEGMENTS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: </a:t>
            </a:r>
          </a:p>
          <a:p>
            <a:pPr marL="45720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Mass market (e.g. Consumer products) </a:t>
            </a:r>
          </a:p>
          <a:p>
            <a:pPr marL="45720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Niche market (e.g. Luxury items) </a:t>
            </a:r>
          </a:p>
          <a:p>
            <a:pPr marL="45720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Diversified market (e.g. Amazon) </a:t>
            </a:r>
          </a:p>
          <a:p>
            <a:pPr marL="45720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Multi-sided markets (e.g. Credit cards) </a:t>
            </a:r>
          </a:p>
        </p:txBody>
      </p:sp>
    </p:spTree>
    <p:extLst>
      <p:ext uri="{BB962C8B-B14F-4D97-AF65-F5344CB8AC3E}">
        <p14:creationId xmlns:p14="http://schemas.microsoft.com/office/powerpoint/2010/main" val="327297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1B90-3ACF-0CD0-933C-3A9086B5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VALUE PROPOSITIONS</a:t>
            </a:r>
            <a:endParaRPr lang="en-US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6939A3-0737-B7F3-FCD9-7176921BF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704976"/>
            <a:ext cx="8458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Manfaat yang ditawarkan organisasi kepada segmen yang dilayani, </a:t>
            </a:r>
            <a:r>
              <a:rPr lang="sv-SE" alt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menentukan segmen pelanggan yang dipilih atau sebaliknya</a:t>
            </a:r>
            <a:endParaRPr lang="en-US" altLang="en-US" sz="20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905BC-A8B9-A409-927E-7DED12783A8B}"/>
              </a:ext>
            </a:extLst>
          </p:cNvPr>
          <p:cNvSpPr/>
          <p:nvPr/>
        </p:nvSpPr>
        <p:spPr>
          <a:xfrm>
            <a:off x="1752600" y="2667000"/>
            <a:ext cx="4724400" cy="37861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latin typeface="Segoe UI" pitchFamily="34" charset="0"/>
                <a:cs typeface="Segoe UI" pitchFamily="34" charset="0"/>
              </a:rPr>
              <a:t>•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Questions to ask: </a:t>
            </a:r>
          </a:p>
          <a:p>
            <a:pPr marL="457200" indent="-285750"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value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ditawarkan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kepada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masalah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bisa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atasi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keunggulan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kompetetif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perusahaan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  <a:p>
            <a:pPr marL="457200" indent="-285750"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Kebutuhan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bisa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puaskan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bundel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produk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/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jasa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tawarkan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kepada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setiap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segmen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AAA54B-7C32-E0B9-7CF1-80448DEDC3AE}"/>
              </a:ext>
            </a:extLst>
          </p:cNvPr>
          <p:cNvSpPr/>
          <p:nvPr/>
        </p:nvSpPr>
        <p:spPr>
          <a:xfrm>
            <a:off x="6324600" y="2667000"/>
            <a:ext cx="4343400" cy="31702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VALUE PROPOSITIONS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: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Newness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Performance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Customization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“Getting the job done”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Price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Risk/cost reduction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Design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Convenience/usability </a:t>
            </a:r>
          </a:p>
          <a:p>
            <a:pPr marL="514350" indent="-342900"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Accessibility </a:t>
            </a:r>
          </a:p>
        </p:txBody>
      </p:sp>
    </p:spTree>
    <p:extLst>
      <p:ext uri="{BB962C8B-B14F-4D97-AF65-F5344CB8AC3E}">
        <p14:creationId xmlns:p14="http://schemas.microsoft.com/office/powerpoint/2010/main" val="419783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0119-E6EC-765F-82DD-FF5546C1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CHANNELS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13B88D-6802-555F-BF5F-B254287EF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704976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Menjelaskan bagaimana perusahaan berkomunikasi dan menjangkau segmen pelanggan untuk menyampaikan </a:t>
            </a:r>
            <a:r>
              <a:rPr lang="en-US" alt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value propositons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73D17-763F-A902-C6E8-C06F6AE5FC0E}"/>
              </a:ext>
            </a:extLst>
          </p:cNvPr>
          <p:cNvSpPr/>
          <p:nvPr/>
        </p:nvSpPr>
        <p:spPr>
          <a:xfrm>
            <a:off x="1348740" y="2667001"/>
            <a:ext cx="566166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latin typeface="Segoe UI" pitchFamily="34" charset="0"/>
                <a:cs typeface="Segoe UI" pitchFamily="34" charset="0"/>
              </a:rPr>
              <a:t>•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Questions to ask: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Melalui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channels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dapat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menjangkau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meraih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channels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ini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terintergrasi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dengan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lainnya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Channels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bekerja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paling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baik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Channels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paling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efisien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dalam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pembiayaan</a:t>
            </a:r>
            <a:endParaRPr lang="en-US" sz="2000" b="1" dirty="0">
              <a:latin typeface="Segoe UI" pitchFamily="34" charset="0"/>
              <a:cs typeface="Segoe UI" pitchFamily="34" charset="0"/>
            </a:endParaRP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mengintegrasikan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value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dengan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kebiasaan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C4AC1B-49A5-D716-7087-5A336803E183}"/>
              </a:ext>
            </a:extLst>
          </p:cNvPr>
          <p:cNvSpPr/>
          <p:nvPr/>
        </p:nvSpPr>
        <p:spPr>
          <a:xfrm>
            <a:off x="7086600" y="2743201"/>
            <a:ext cx="3581400" cy="22463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CHANNELS: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Sales force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Web sales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Own stores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Partner stores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Wholesaler </a:t>
            </a:r>
          </a:p>
        </p:txBody>
      </p:sp>
    </p:spTree>
    <p:extLst>
      <p:ext uri="{BB962C8B-B14F-4D97-AF65-F5344CB8AC3E}">
        <p14:creationId xmlns:p14="http://schemas.microsoft.com/office/powerpoint/2010/main" val="74777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3D83-9340-03AA-70F1-6DD0BFDF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latin typeface="Segoe UI" pitchFamily="34" charset="0"/>
                <a:cs typeface="Segoe UI" pitchFamily="34" charset="0"/>
              </a:rPr>
              <a:t>CUSTOMER RELATIONSHIPS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7D58A37-4071-DF23-A7C1-2CBEE8F51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704975"/>
            <a:ext cx="8001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Menjelaskan tipe </a:t>
            </a:r>
            <a:r>
              <a:rPr lang="en-US" altLang="en-US" sz="2400" b="1" i="1" dirty="0">
                <a:latin typeface="Segoe UI" panose="020B0502040204020203" pitchFamily="34" charset="0"/>
                <a:cs typeface="Segoe UI" panose="020B0502040204020203" pitchFamily="34" charset="0"/>
              </a:rPr>
              <a:t>relationships</a:t>
            </a:r>
            <a:r>
              <a:rPr lang="en-US" alt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suatu perusahaan dengan pelanggan yang spesifik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79A15F-C2BA-5715-7A8C-6464632D7F9F}"/>
              </a:ext>
            </a:extLst>
          </p:cNvPr>
          <p:cNvSpPr/>
          <p:nvPr/>
        </p:nvSpPr>
        <p:spPr>
          <a:xfrm>
            <a:off x="1028700" y="2849563"/>
            <a:ext cx="54483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000" b="1" dirty="0">
                <a:latin typeface="Segoe UI" pitchFamily="34" charset="0"/>
                <a:cs typeface="Segoe UI" pitchFamily="34" charset="0"/>
              </a:rPr>
              <a:t>•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Questions to ask: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tipe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relationship 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bangun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buat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terhadap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Manakah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tipe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relationship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dijalankan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Seberapa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mahal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relationship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terintegrasi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dengan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keseluruhan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model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bisnis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74642-4F15-3F75-DAFB-C7D9E792D294}"/>
              </a:ext>
            </a:extLst>
          </p:cNvPr>
          <p:cNvSpPr/>
          <p:nvPr/>
        </p:nvSpPr>
        <p:spPr>
          <a:xfrm>
            <a:off x="6553200" y="2849563"/>
            <a:ext cx="4114800" cy="30162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CUST. RELATIONSHIPS: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Personal assistance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Dedicated personal assistance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Self-service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Automated service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Customer communities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Co-Creation </a:t>
            </a:r>
          </a:p>
        </p:txBody>
      </p:sp>
    </p:spTree>
    <p:extLst>
      <p:ext uri="{BB962C8B-B14F-4D97-AF65-F5344CB8AC3E}">
        <p14:creationId xmlns:p14="http://schemas.microsoft.com/office/powerpoint/2010/main" val="4175263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5CC2-28B8-9F20-ED9A-83E91B5B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REVENUE STREAMS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8681F-19C6-CCBC-4BF5-E65329AA5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00200"/>
            <a:ext cx="8534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200" b="1">
                <a:latin typeface="Segoe UI" panose="020B0502040204020203" pitchFamily="34" charset="0"/>
                <a:cs typeface="Segoe UI" panose="020B0502040204020203" pitchFamily="34" charset="0"/>
              </a:rPr>
              <a:t>Menjelaskan bagaimana perusahaan menghasilkan uang dari setiap segmen pelanggan </a:t>
            </a:r>
            <a:r>
              <a:rPr lang="en-US" altLang="en-US" sz="2200" b="1" i="1">
                <a:latin typeface="Segoe UI" panose="020B0502040204020203" pitchFamily="34" charset="0"/>
                <a:cs typeface="Segoe UI" panose="020B0502040204020203" pitchFamily="34" charset="0"/>
              </a:rPr>
              <a:t>(Revenue – costs = earnings/profits)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09138-5145-DBAE-992B-D4264BB3B3C4}"/>
              </a:ext>
            </a:extLst>
          </p:cNvPr>
          <p:cNvSpPr/>
          <p:nvPr/>
        </p:nvSpPr>
        <p:spPr>
          <a:xfrm>
            <a:off x="838200" y="2590801"/>
            <a:ext cx="586740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000" b="1" dirty="0">
                <a:latin typeface="Segoe UI" pitchFamily="34" charset="0"/>
                <a:cs typeface="Segoe UI" pitchFamily="34" charset="0"/>
              </a:rPr>
              <a:t>•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Questions to ask: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value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pelanggan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mau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membayar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mereka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saat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ini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mau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membayar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mereka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saat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ini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membayar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Bagaimana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mereka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lebih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suka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dalam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membayar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Seberapa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banyak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setiap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revenue stream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berkontribusi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terhadap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pendapatan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keseluruhan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21FC31-ABB6-EBBD-2305-C64F10807D89}"/>
              </a:ext>
            </a:extLst>
          </p:cNvPr>
          <p:cNvSpPr/>
          <p:nvPr/>
        </p:nvSpPr>
        <p:spPr>
          <a:xfrm>
            <a:off x="6705600" y="2667000"/>
            <a:ext cx="3962400" cy="3092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REVENUE STREAMS: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Asset sale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Usage fee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Subscription fees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Lending/renting/leasing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Licensing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Brokerage fees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Advertising </a:t>
            </a:r>
          </a:p>
        </p:txBody>
      </p:sp>
    </p:spTree>
    <p:extLst>
      <p:ext uri="{BB962C8B-B14F-4D97-AF65-F5344CB8AC3E}">
        <p14:creationId xmlns:p14="http://schemas.microsoft.com/office/powerpoint/2010/main" val="2500906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494D5-58E0-FA34-B8FE-CA88282A1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KEY RESOURCES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D3E8DD1-61EC-4B7F-E634-450B091AA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24001"/>
            <a:ext cx="8382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300" b="1" dirty="0">
                <a:latin typeface="Segoe UI" panose="020B0502040204020203" pitchFamily="34" charset="0"/>
                <a:cs typeface="Segoe UI" panose="020B0502040204020203" pitchFamily="34" charset="0"/>
              </a:rPr>
              <a:t>Menjelaskan sumberdaya milik organisasi yang diperlukan untuk menjalankan suatu model bisnis</a:t>
            </a:r>
            <a:endParaRPr lang="en-US" altLang="en-US" sz="23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731B9-DD07-78D3-658A-2BAA52037184}"/>
              </a:ext>
            </a:extLst>
          </p:cNvPr>
          <p:cNvSpPr/>
          <p:nvPr/>
        </p:nvSpPr>
        <p:spPr>
          <a:xfrm>
            <a:off x="1005840" y="2514600"/>
            <a:ext cx="56997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000" b="1" dirty="0">
                <a:latin typeface="Segoe UI" pitchFamily="34" charset="0"/>
                <a:cs typeface="Segoe UI" pitchFamily="34" charset="0"/>
              </a:rPr>
              <a:t>•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Questions to ask: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sumberdaya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kunci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memenuhi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value proposition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ditetapkan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sumberdaya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mendistribusikan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melalui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channels?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sumberdaya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membangun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customer relationship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sumberdaya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mendapatkan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pendapatan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pada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revenue streams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D7FFC-5262-7648-1900-550C105E6423}"/>
              </a:ext>
            </a:extLst>
          </p:cNvPr>
          <p:cNvSpPr/>
          <p:nvPr/>
        </p:nvSpPr>
        <p:spPr>
          <a:xfrm>
            <a:off x="6629400" y="2544764"/>
            <a:ext cx="4114800" cy="31702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KEY RESOURCES: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Physical assets (e.g. facilities, machines, etc.)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Intellectual resources (e.g. brands, copyrights, patents, etc.)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Human resources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Financial resources and/or guarantees </a:t>
            </a:r>
          </a:p>
        </p:txBody>
      </p:sp>
    </p:spTree>
    <p:extLst>
      <p:ext uri="{BB962C8B-B14F-4D97-AF65-F5344CB8AC3E}">
        <p14:creationId xmlns:p14="http://schemas.microsoft.com/office/powerpoint/2010/main" val="359151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F18E-AF22-D747-C843-9304D93F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KEY ACTIVITIES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B4A44F-2476-3904-5723-A552F9D99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704975"/>
            <a:ext cx="8001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200" b="1">
                <a:latin typeface="Segoe UI" panose="020B0502040204020203" pitchFamily="34" charset="0"/>
                <a:cs typeface="Segoe UI" panose="020B0502040204020203" pitchFamily="34" charset="0"/>
              </a:rPr>
              <a:t>Menjelaskan aktivitas terpenting yang harus dilakukan perusahaan untuk menjalankan model bisnis</a:t>
            </a:r>
            <a:endParaRPr lang="en-US" altLang="en-US" sz="2200" b="1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17FC2-97A4-2CA9-E915-43C1B2E3A3A6}"/>
              </a:ext>
            </a:extLst>
          </p:cNvPr>
          <p:cNvSpPr/>
          <p:nvPr/>
        </p:nvSpPr>
        <p:spPr>
          <a:xfrm>
            <a:off x="1524000" y="2849564"/>
            <a:ext cx="4953000" cy="31702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000" b="1" dirty="0">
                <a:latin typeface="Segoe UI" pitchFamily="34" charset="0"/>
                <a:cs typeface="Segoe UI" pitchFamily="34" charset="0"/>
              </a:rPr>
              <a:t>•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Questions to ask: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aktivitas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kunci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value propositions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aktivitas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kunci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distribution channels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aktivitas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kunci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customer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relationships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aktivitas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kunci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diperlukan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revenue streams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4FF30-ED9A-A78D-A59A-53F3474CCED3}"/>
              </a:ext>
            </a:extLst>
          </p:cNvPr>
          <p:cNvSpPr/>
          <p:nvPr/>
        </p:nvSpPr>
        <p:spPr>
          <a:xfrm>
            <a:off x="6553200" y="2849563"/>
            <a:ext cx="3962400" cy="37084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KEY ACTIVITIES: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Production (e.g. Designing, making and delivering a product)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Problem solving (e.g. Coming up with new solutions)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Platform/Network (e.g. Service provision, interface management, platform promotion) </a:t>
            </a:r>
          </a:p>
        </p:txBody>
      </p:sp>
    </p:spTree>
    <p:extLst>
      <p:ext uri="{BB962C8B-B14F-4D97-AF65-F5344CB8AC3E}">
        <p14:creationId xmlns:p14="http://schemas.microsoft.com/office/powerpoint/2010/main" val="179651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7ADF-4D75-C80B-E5AA-8F653BF67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KEY PARTNERSHIPS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80211-6372-997A-D1FC-D9D1A3B35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704976"/>
            <a:ext cx="838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000" b="1">
                <a:latin typeface="Segoe UI" panose="020B0502040204020203" pitchFamily="34" charset="0"/>
                <a:cs typeface="Segoe UI" panose="020B0502040204020203" pitchFamily="34" charset="0"/>
              </a:rPr>
              <a:t>Menjelaskan jaringan pemasok dan mitra yang membuat pekerjaan dalam suatu model bisnis</a:t>
            </a:r>
            <a:endParaRPr lang="en-US" altLang="en-US" sz="2000" b="1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9F7B9B-6BF9-9F68-86B6-589449E93EB0}"/>
              </a:ext>
            </a:extLst>
          </p:cNvPr>
          <p:cNvSpPr/>
          <p:nvPr/>
        </p:nvSpPr>
        <p:spPr>
          <a:xfrm>
            <a:off x="1524000" y="2849564"/>
            <a:ext cx="4953000" cy="2554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•Questions to ask: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Siapa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 key partners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Siapa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key suppliers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kita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  <a:endParaRPr lang="en-US" sz="2000" b="1" i="1" dirty="0">
              <a:latin typeface="Segoe UI" pitchFamily="34" charset="0"/>
              <a:cs typeface="Segoe UI" pitchFamily="34" charset="0"/>
            </a:endParaRP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key resources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diperoleh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mitra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 </a:t>
            </a:r>
            <a:endParaRPr lang="en-US" sz="2000" b="1" dirty="0">
              <a:latin typeface="Segoe UI" pitchFamily="34" charset="0"/>
              <a:cs typeface="Segoe UI" pitchFamily="34" charset="0"/>
            </a:endParaRP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key activities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diperoleh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mitra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  <a:endParaRPr lang="en-US" sz="2000" b="1" i="1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20CF96-A985-A216-E265-06B73C869E98}"/>
              </a:ext>
            </a:extLst>
          </p:cNvPr>
          <p:cNvSpPr/>
          <p:nvPr/>
        </p:nvSpPr>
        <p:spPr>
          <a:xfrm>
            <a:off x="6553200" y="2849564"/>
            <a:ext cx="3962400" cy="24780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KEY PARTNERSHIPS: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Optimization and economy of scale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Reduction of risk and uncertainty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Acquisition of particular resources and activities </a:t>
            </a:r>
          </a:p>
        </p:txBody>
      </p:sp>
    </p:spTree>
    <p:extLst>
      <p:ext uri="{BB962C8B-B14F-4D97-AF65-F5344CB8AC3E}">
        <p14:creationId xmlns:p14="http://schemas.microsoft.com/office/powerpoint/2010/main" val="370883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E698-C994-AFE6-7679-CB20BAEA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COST STRUCTURE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324E3EF-3FED-65AC-F1EE-CB48EFE34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704975"/>
            <a:ext cx="8001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alt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Menjelaskan biaya yang paling besar terjadi ketika beroperasi di bawah model bisnis tertentu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1B2A5F-C55B-1498-2A9E-E03E1DDB03FD}"/>
              </a:ext>
            </a:extLst>
          </p:cNvPr>
          <p:cNvSpPr/>
          <p:nvPr/>
        </p:nvSpPr>
        <p:spPr>
          <a:xfrm>
            <a:off x="1524000" y="2849564"/>
            <a:ext cx="4953000" cy="24780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•Questions to ask: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Apa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biaya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paling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penting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melekat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dalam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model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bisnis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kami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Manakah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key resource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paling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mahal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dibutuhkan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? </a:t>
            </a:r>
          </a:p>
          <a:p>
            <a:pPr marL="457200" indent="-285750"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Manakah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i="1" dirty="0">
                <a:latin typeface="Segoe UI" pitchFamily="34" charset="0"/>
                <a:cs typeface="Segoe UI" pitchFamily="34" charset="0"/>
              </a:rPr>
              <a:t>key activities 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yang paling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mahal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2000" b="1" dirty="0" err="1">
                <a:latin typeface="Segoe UI" pitchFamily="34" charset="0"/>
                <a:cs typeface="Segoe UI" pitchFamily="34" charset="0"/>
              </a:rPr>
              <a:t>dilakukan</a:t>
            </a:r>
            <a:r>
              <a:rPr lang="en-US" sz="2000" b="1" dirty="0">
                <a:latin typeface="Segoe UI" pitchFamily="34" charset="0"/>
                <a:cs typeface="Segoe UI" pitchFamily="34" charset="0"/>
              </a:rPr>
              <a:t>?</a:t>
            </a:r>
            <a:endParaRPr lang="en-US" sz="2000" b="1" i="1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D7BB56-1458-FCC9-84BB-9021D3BBEEB8}"/>
              </a:ext>
            </a:extLst>
          </p:cNvPr>
          <p:cNvSpPr/>
          <p:nvPr/>
        </p:nvSpPr>
        <p:spPr>
          <a:xfrm>
            <a:off x="6705600" y="2849564"/>
            <a:ext cx="3962400" cy="17859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Types of COST STRUCTURE: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Cost-driven (= minimizing costs)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Value-driven (= focus on value creation)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94673C-CACF-D4AF-42A3-AF77327B346F}"/>
              </a:ext>
            </a:extLst>
          </p:cNvPr>
          <p:cNvSpPr/>
          <p:nvPr/>
        </p:nvSpPr>
        <p:spPr>
          <a:xfrm>
            <a:off x="6781800" y="4845050"/>
            <a:ext cx="3962400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Characteristics: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 Fixed costs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 Variable costs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 Economies of scale </a:t>
            </a:r>
          </a:p>
          <a:p>
            <a:pPr marL="514350" indent="-342900"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2000" b="1" i="1" dirty="0">
                <a:latin typeface="Segoe UI" pitchFamily="34" charset="0"/>
                <a:cs typeface="Segoe UI" pitchFamily="34" charset="0"/>
              </a:rPr>
              <a:t> Economies of scope </a:t>
            </a:r>
          </a:p>
        </p:txBody>
      </p:sp>
    </p:spTree>
    <p:extLst>
      <p:ext uri="{BB962C8B-B14F-4D97-AF65-F5344CB8AC3E}">
        <p14:creationId xmlns:p14="http://schemas.microsoft.com/office/powerpoint/2010/main" val="409315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0;p3">
            <a:extLst>
              <a:ext uri="{FF2B5EF4-FFF2-40B4-BE49-F238E27FC236}">
                <a16:creationId xmlns:a16="http://schemas.microsoft.com/office/drawing/2014/main" id="{7A4C09C3-0700-E43E-145D-0C28C9F4475A}"/>
              </a:ext>
            </a:extLst>
          </p:cNvPr>
          <p:cNvSpPr txBox="1"/>
          <p:nvPr/>
        </p:nvSpPr>
        <p:spPr>
          <a:xfrm>
            <a:off x="680252" y="1056506"/>
            <a:ext cx="24031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 Engagement</a:t>
            </a:r>
            <a:endParaRPr/>
          </a:p>
        </p:txBody>
      </p:sp>
      <p:sp>
        <p:nvSpPr>
          <p:cNvPr id="5" name="Google Shape;121;p3">
            <a:extLst>
              <a:ext uri="{FF2B5EF4-FFF2-40B4-BE49-F238E27FC236}">
                <a16:creationId xmlns:a16="http://schemas.microsoft.com/office/drawing/2014/main" id="{4A8CE879-0B63-0A1B-006C-00376BC22589}"/>
              </a:ext>
            </a:extLst>
          </p:cNvPr>
          <p:cNvSpPr/>
          <p:nvPr/>
        </p:nvSpPr>
        <p:spPr>
          <a:xfrm>
            <a:off x="680252" y="1891727"/>
            <a:ext cx="2403116" cy="3707396"/>
          </a:xfrm>
          <a:prstGeom prst="rect">
            <a:avLst/>
          </a:prstGeom>
          <a:solidFill>
            <a:schemeClr val="lt1"/>
          </a:solidFill>
          <a:ln w="31750" cap="flat" cmpd="sng">
            <a:solidFill>
              <a:srgbClr val="F36F2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44000" tIns="45700" rIns="144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Bertemu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langsung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calon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pada pasar 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akan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disasar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Menggali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permasalahan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kebutuhan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Menggali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potensi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adanya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proyek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bersama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kemungkinan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pendanaan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Mengamati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karakteristik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sektor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otomotif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robotika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maritim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dan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industri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kreatif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22;p3">
            <a:extLst>
              <a:ext uri="{FF2B5EF4-FFF2-40B4-BE49-F238E27FC236}">
                <a16:creationId xmlns:a16="http://schemas.microsoft.com/office/drawing/2014/main" id="{FE3DBDF8-F99E-1DC6-A83D-6E88BFE8DCC1}"/>
              </a:ext>
            </a:extLst>
          </p:cNvPr>
          <p:cNvSpPr txBox="1"/>
          <p:nvPr/>
        </p:nvSpPr>
        <p:spPr>
          <a:xfrm>
            <a:off x="3489712" y="1056506"/>
            <a:ext cx="24031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Ideas</a:t>
            </a:r>
            <a:endParaRPr/>
          </a:p>
        </p:txBody>
      </p:sp>
      <p:sp>
        <p:nvSpPr>
          <p:cNvPr id="7" name="Google Shape;123;p3">
            <a:extLst>
              <a:ext uri="{FF2B5EF4-FFF2-40B4-BE49-F238E27FC236}">
                <a16:creationId xmlns:a16="http://schemas.microsoft.com/office/drawing/2014/main" id="{C9A3C28B-BC28-E397-AB2C-E645F3A68526}"/>
              </a:ext>
            </a:extLst>
          </p:cNvPr>
          <p:cNvSpPr/>
          <p:nvPr/>
        </p:nvSpPr>
        <p:spPr>
          <a:xfrm>
            <a:off x="3489712" y="1891727"/>
            <a:ext cx="2403116" cy="3707395"/>
          </a:xfrm>
          <a:prstGeom prst="rect">
            <a:avLst/>
          </a:prstGeom>
          <a:solidFill>
            <a:schemeClr val="lt1"/>
          </a:solidFill>
          <a:ln w="31750" cap="flat" cmpd="sng">
            <a:solidFill>
              <a:srgbClr val="F36F2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44000" tIns="45700" rIns="144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Mengidentifikasi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memahami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kebutuhan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calon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dan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seberapa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besar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permintaan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pasar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Membangun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 proposition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kuat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berpusat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solusi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atas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permasalahan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Memvalidasi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gagasan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produk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dan value proposition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langsung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kepada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calon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124;p3">
            <a:extLst>
              <a:ext uri="{FF2B5EF4-FFF2-40B4-BE49-F238E27FC236}">
                <a16:creationId xmlns:a16="http://schemas.microsoft.com/office/drawing/2014/main" id="{098DFA29-E925-B6C7-2C67-CB54E32960A4}"/>
              </a:ext>
            </a:extLst>
          </p:cNvPr>
          <p:cNvSpPr txBox="1"/>
          <p:nvPr/>
        </p:nvSpPr>
        <p:spPr>
          <a:xfrm>
            <a:off x="6299172" y="1056506"/>
            <a:ext cx="24031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 to Market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Strategy</a:t>
            </a:r>
            <a:endParaRPr/>
          </a:p>
        </p:txBody>
      </p:sp>
      <p:sp>
        <p:nvSpPr>
          <p:cNvPr id="9" name="Google Shape;125;p3">
            <a:extLst>
              <a:ext uri="{FF2B5EF4-FFF2-40B4-BE49-F238E27FC236}">
                <a16:creationId xmlns:a16="http://schemas.microsoft.com/office/drawing/2014/main" id="{6A8C810E-F7A0-D2F9-C118-2AD547AB8063}"/>
              </a:ext>
            </a:extLst>
          </p:cNvPr>
          <p:cNvSpPr/>
          <p:nvPr/>
        </p:nvSpPr>
        <p:spPr>
          <a:xfrm>
            <a:off x="6299172" y="1891728"/>
            <a:ext cx="2403116" cy="3707394"/>
          </a:xfrm>
          <a:prstGeom prst="rect">
            <a:avLst/>
          </a:prstGeom>
          <a:solidFill>
            <a:schemeClr val="lt1"/>
          </a:solidFill>
          <a:ln w="31750" cap="flat" cmpd="sng">
            <a:solidFill>
              <a:srgbClr val="F36F2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44000" tIns="45700" rIns="144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Membangun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strategi Go to Market (GTM)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yang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efektif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komprehensif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Mengidentifikasi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membangun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channel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distribusi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efektif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Membangun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taktik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marketing dan sales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mendorong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adopsi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terhadap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produk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Mengoreksi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strategi GTM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berdasarkan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umpan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balik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pakar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industri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terkait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</p:txBody>
      </p:sp>
      <p:sp>
        <p:nvSpPr>
          <p:cNvPr id="10" name="Google Shape;126;p3">
            <a:extLst>
              <a:ext uri="{FF2B5EF4-FFF2-40B4-BE49-F238E27FC236}">
                <a16:creationId xmlns:a16="http://schemas.microsoft.com/office/drawing/2014/main" id="{0E771049-B356-8779-8718-2B5DE34AC505}"/>
              </a:ext>
            </a:extLst>
          </p:cNvPr>
          <p:cNvSpPr txBox="1"/>
          <p:nvPr/>
        </p:nvSpPr>
        <p:spPr>
          <a:xfrm>
            <a:off x="9108632" y="1056506"/>
            <a:ext cx="24031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&amp; Reflection</a:t>
            </a:r>
            <a:endParaRPr/>
          </a:p>
        </p:txBody>
      </p:sp>
      <p:sp>
        <p:nvSpPr>
          <p:cNvPr id="11" name="Google Shape;127;p3">
            <a:extLst>
              <a:ext uri="{FF2B5EF4-FFF2-40B4-BE49-F238E27FC236}">
                <a16:creationId xmlns:a16="http://schemas.microsoft.com/office/drawing/2014/main" id="{42776DD1-BA15-44A7-B17B-4268A4BB1F62}"/>
              </a:ext>
            </a:extLst>
          </p:cNvPr>
          <p:cNvSpPr/>
          <p:nvPr/>
        </p:nvSpPr>
        <p:spPr>
          <a:xfrm>
            <a:off x="9108632" y="1891728"/>
            <a:ext cx="2403116" cy="3707394"/>
          </a:xfrm>
          <a:prstGeom prst="rect">
            <a:avLst/>
          </a:prstGeom>
          <a:solidFill>
            <a:schemeClr val="lt1"/>
          </a:solidFill>
          <a:ln w="31750" cap="flat" cmpd="sng">
            <a:solidFill>
              <a:srgbClr val="F36F2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44000" tIns="45700" rIns="144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Membangun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detil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rencana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eksekusi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pelaksanaan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strategi GTM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komprehensif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Melakukan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pilot testing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atas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strategi GTM 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direncanakan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langsung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kepada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calon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pelanggan</a:t>
            </a:r>
            <a:r>
              <a:rPr lang="en-US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disasar</a:t>
            </a:r>
            <a:endParaRPr sz="1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Mengamati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hasil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pilot testing, dan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melakukan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penyesuaian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diperlukan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pada strategi GTM yang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telah</a:t>
            </a: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dirancang</a:t>
            </a:r>
            <a:endParaRPr dirty="0"/>
          </a:p>
        </p:txBody>
      </p:sp>
      <p:sp>
        <p:nvSpPr>
          <p:cNvPr id="12" name="Google Shape;128;p3">
            <a:extLst>
              <a:ext uri="{FF2B5EF4-FFF2-40B4-BE49-F238E27FC236}">
                <a16:creationId xmlns:a16="http://schemas.microsoft.com/office/drawing/2014/main" id="{6CABA86D-AA59-6C22-80D2-831A5A2F16B1}"/>
              </a:ext>
            </a:extLst>
          </p:cNvPr>
          <p:cNvSpPr/>
          <p:nvPr/>
        </p:nvSpPr>
        <p:spPr>
          <a:xfrm>
            <a:off x="680252" y="5786045"/>
            <a:ext cx="2403116" cy="6177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GAGASAN</a:t>
            </a:r>
            <a:endParaRPr dirty="0"/>
          </a:p>
        </p:txBody>
      </p:sp>
      <p:sp>
        <p:nvSpPr>
          <p:cNvPr id="13" name="Google Shape;130;p3">
            <a:extLst>
              <a:ext uri="{FF2B5EF4-FFF2-40B4-BE49-F238E27FC236}">
                <a16:creationId xmlns:a16="http://schemas.microsoft.com/office/drawing/2014/main" id="{97246336-7730-466C-3F5A-894E071AB7A2}"/>
              </a:ext>
            </a:extLst>
          </p:cNvPr>
          <p:cNvSpPr/>
          <p:nvPr/>
        </p:nvSpPr>
        <p:spPr>
          <a:xfrm>
            <a:off x="9108632" y="5786045"/>
            <a:ext cx="2427014" cy="617756"/>
          </a:xfrm>
          <a:prstGeom prst="rect">
            <a:avLst/>
          </a:prstGeom>
          <a:solidFill>
            <a:srgbClr val="103E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FASE KETIGA</a:t>
            </a:r>
            <a:endParaRPr/>
          </a:p>
        </p:txBody>
      </p:sp>
      <p:sp>
        <p:nvSpPr>
          <p:cNvPr id="14" name="Google Shape;131;p3">
            <a:extLst>
              <a:ext uri="{FF2B5EF4-FFF2-40B4-BE49-F238E27FC236}">
                <a16:creationId xmlns:a16="http://schemas.microsoft.com/office/drawing/2014/main" id="{6395A727-DA2D-7B41-B664-4402458EC54E}"/>
              </a:ext>
            </a:extLst>
          </p:cNvPr>
          <p:cNvSpPr/>
          <p:nvPr/>
        </p:nvSpPr>
        <p:spPr>
          <a:xfrm>
            <a:off x="3489712" y="5786045"/>
            <a:ext cx="2403116" cy="617756"/>
          </a:xfrm>
          <a:prstGeom prst="rect">
            <a:avLst/>
          </a:prstGeom>
          <a:solidFill>
            <a:srgbClr val="103E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FASE PERTAMA</a:t>
            </a:r>
            <a:endParaRPr/>
          </a:p>
        </p:txBody>
      </p:sp>
      <p:sp>
        <p:nvSpPr>
          <p:cNvPr id="15" name="Google Shape;135;p3">
            <a:extLst>
              <a:ext uri="{FF2B5EF4-FFF2-40B4-BE49-F238E27FC236}">
                <a16:creationId xmlns:a16="http://schemas.microsoft.com/office/drawing/2014/main" id="{EA4953C3-EAA9-623E-568E-B151D5D1B8CD}"/>
              </a:ext>
            </a:extLst>
          </p:cNvPr>
          <p:cNvSpPr/>
          <p:nvPr/>
        </p:nvSpPr>
        <p:spPr>
          <a:xfrm>
            <a:off x="6299172" y="5786045"/>
            <a:ext cx="2403116" cy="617756"/>
          </a:xfrm>
          <a:prstGeom prst="rect">
            <a:avLst/>
          </a:prstGeom>
          <a:solidFill>
            <a:srgbClr val="103E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FASE KEDUA</a:t>
            </a: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E04479-7CB1-A7F7-660F-3C3507897DF1}"/>
              </a:ext>
            </a:extLst>
          </p:cNvPr>
          <p:cNvSpPr txBox="1"/>
          <p:nvPr/>
        </p:nvSpPr>
        <p:spPr>
          <a:xfrm>
            <a:off x="680252" y="269533"/>
            <a:ext cx="733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MEMBANGUN STRATEGI GTM SECARA EFEKTIF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661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3B6DB8AB-4FDC-CDE2-532D-3C2E0C20C15B}"/>
              </a:ext>
            </a:extLst>
          </p:cNvPr>
          <p:cNvSpPr/>
          <p:nvPr/>
        </p:nvSpPr>
        <p:spPr>
          <a:xfrm>
            <a:off x="1" y="155401"/>
            <a:ext cx="145600" cy="338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23A09EF6-CD1B-CA0B-A431-B7FFF244E2A0}"/>
              </a:ext>
            </a:extLst>
          </p:cNvPr>
          <p:cNvSpPr txBox="1"/>
          <p:nvPr/>
        </p:nvSpPr>
        <p:spPr>
          <a:xfrm>
            <a:off x="252347" y="148037"/>
            <a:ext cx="4982262" cy="400069"/>
          </a:xfrm>
          <a:prstGeom prst="rect">
            <a:avLst/>
          </a:prstGeom>
          <a:noFill/>
          <a:ln>
            <a:noFill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" sz="2000" b="1" dirty="0">
                <a:solidFill>
                  <a:srgbClr val="103E76"/>
                </a:solidFill>
                <a:latin typeface="Poppins"/>
                <a:ea typeface="Poppins"/>
                <a:cs typeface="Poppins"/>
                <a:sym typeface="Poppins"/>
              </a:rPr>
              <a:t>RESEARCH SUMMARY CANVAS</a:t>
            </a:r>
            <a:endParaRPr sz="2000" b="1" dirty="0">
              <a:solidFill>
                <a:srgbClr val="103E76"/>
              </a:solidFill>
            </a:endParaRP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24D5939-CB6E-A6DF-BE22-F5E8B147C542}"/>
              </a:ext>
            </a:extLst>
          </p:cNvPr>
          <p:cNvSpPr/>
          <p:nvPr/>
        </p:nvSpPr>
        <p:spPr>
          <a:xfrm>
            <a:off x="1665167" y="629200"/>
            <a:ext cx="4227600" cy="33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595E46DA-51D4-2560-DE3B-626DDB5C1DBE}"/>
              </a:ext>
            </a:extLst>
          </p:cNvPr>
          <p:cNvSpPr txBox="1"/>
          <p:nvPr/>
        </p:nvSpPr>
        <p:spPr>
          <a:xfrm>
            <a:off x="393133" y="593401"/>
            <a:ext cx="15376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Researcher name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58;p13">
            <a:extLst>
              <a:ext uri="{FF2B5EF4-FFF2-40B4-BE49-F238E27FC236}">
                <a16:creationId xmlns:a16="http://schemas.microsoft.com/office/drawing/2014/main" id="{1E1B402F-6382-DE0B-1085-E192D8278CE7}"/>
              </a:ext>
            </a:extLst>
          </p:cNvPr>
          <p:cNvSpPr/>
          <p:nvPr/>
        </p:nvSpPr>
        <p:spPr>
          <a:xfrm>
            <a:off x="1665167" y="1003800"/>
            <a:ext cx="4227600" cy="33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9" name="Google Shape;59;p13">
            <a:extLst>
              <a:ext uri="{FF2B5EF4-FFF2-40B4-BE49-F238E27FC236}">
                <a16:creationId xmlns:a16="http://schemas.microsoft.com/office/drawing/2014/main" id="{4EE3E0EF-296E-1B85-83F2-E7E28AA9D276}"/>
              </a:ext>
            </a:extLst>
          </p:cNvPr>
          <p:cNvSpPr txBox="1"/>
          <p:nvPr/>
        </p:nvSpPr>
        <p:spPr>
          <a:xfrm>
            <a:off x="393133" y="968001"/>
            <a:ext cx="15376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Areas of expertise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60;p13">
            <a:extLst>
              <a:ext uri="{FF2B5EF4-FFF2-40B4-BE49-F238E27FC236}">
                <a16:creationId xmlns:a16="http://schemas.microsoft.com/office/drawing/2014/main" id="{009D0013-0689-5B87-D426-907C6E498268}"/>
              </a:ext>
            </a:extLst>
          </p:cNvPr>
          <p:cNvSpPr/>
          <p:nvPr/>
        </p:nvSpPr>
        <p:spPr>
          <a:xfrm>
            <a:off x="7554533" y="665000"/>
            <a:ext cx="4227600" cy="33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1" name="Google Shape;61;p13">
            <a:extLst>
              <a:ext uri="{FF2B5EF4-FFF2-40B4-BE49-F238E27FC236}">
                <a16:creationId xmlns:a16="http://schemas.microsoft.com/office/drawing/2014/main" id="{2565CCF3-225C-C286-ED29-A7750442CA42}"/>
              </a:ext>
            </a:extLst>
          </p:cNvPr>
          <p:cNvSpPr txBox="1"/>
          <p:nvPr/>
        </p:nvSpPr>
        <p:spPr>
          <a:xfrm>
            <a:off x="6282533" y="629200"/>
            <a:ext cx="1334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Institution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62;p13">
            <a:extLst>
              <a:ext uri="{FF2B5EF4-FFF2-40B4-BE49-F238E27FC236}">
                <a16:creationId xmlns:a16="http://schemas.microsoft.com/office/drawing/2014/main" id="{E19BA905-586D-5DA2-B85A-9E1725FFE580}"/>
              </a:ext>
            </a:extLst>
          </p:cNvPr>
          <p:cNvSpPr/>
          <p:nvPr/>
        </p:nvSpPr>
        <p:spPr>
          <a:xfrm>
            <a:off x="7554533" y="1039600"/>
            <a:ext cx="4227600" cy="33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3" name="Google Shape;63;p13">
            <a:extLst>
              <a:ext uri="{FF2B5EF4-FFF2-40B4-BE49-F238E27FC236}">
                <a16:creationId xmlns:a16="http://schemas.microsoft.com/office/drawing/2014/main" id="{E081A3CD-07CE-9CF8-6049-6ED3F3F2AF12}"/>
              </a:ext>
            </a:extLst>
          </p:cNvPr>
          <p:cNvSpPr txBox="1"/>
          <p:nvPr/>
        </p:nvSpPr>
        <p:spPr>
          <a:xfrm>
            <a:off x="6282533" y="1003801"/>
            <a:ext cx="1334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Industrial sector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64;p13">
            <a:extLst>
              <a:ext uri="{FF2B5EF4-FFF2-40B4-BE49-F238E27FC236}">
                <a16:creationId xmlns:a16="http://schemas.microsoft.com/office/drawing/2014/main" id="{40AA6D60-71AE-A85F-206E-6747604664B9}"/>
              </a:ext>
            </a:extLst>
          </p:cNvPr>
          <p:cNvSpPr txBox="1"/>
          <p:nvPr/>
        </p:nvSpPr>
        <p:spPr>
          <a:xfrm>
            <a:off x="393133" y="1444200"/>
            <a:ext cx="11389200" cy="41039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Research funding</a:t>
            </a:r>
            <a:endParaRPr sz="1067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" name="Google Shape;65;p13">
            <a:extLst>
              <a:ext uri="{FF2B5EF4-FFF2-40B4-BE49-F238E27FC236}">
                <a16:creationId xmlns:a16="http://schemas.microsoft.com/office/drawing/2014/main" id="{A5CE0D87-793C-5E4E-F2B5-F818ABA5E385}"/>
              </a:ext>
            </a:extLst>
          </p:cNvPr>
          <p:cNvGrpSpPr/>
          <p:nvPr/>
        </p:nvGrpSpPr>
        <p:grpSpPr>
          <a:xfrm>
            <a:off x="1941330" y="1444201"/>
            <a:ext cx="1817500" cy="410394"/>
            <a:chOff x="2474350" y="1083150"/>
            <a:chExt cx="1363125" cy="307795"/>
          </a:xfrm>
        </p:grpSpPr>
        <p:sp>
          <p:nvSpPr>
            <p:cNvPr id="16" name="Google Shape;66;p13">
              <a:extLst>
                <a:ext uri="{FF2B5EF4-FFF2-40B4-BE49-F238E27FC236}">
                  <a16:creationId xmlns:a16="http://schemas.microsoft.com/office/drawing/2014/main" id="{8405DE15-8BBB-E77C-A5C8-ECD00D39C72D}"/>
                </a:ext>
              </a:extLst>
            </p:cNvPr>
            <p:cNvSpPr/>
            <p:nvPr/>
          </p:nvSpPr>
          <p:spPr>
            <a:xfrm>
              <a:off x="2474350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67;p13">
              <a:extLst>
                <a:ext uri="{FF2B5EF4-FFF2-40B4-BE49-F238E27FC236}">
                  <a16:creationId xmlns:a16="http://schemas.microsoft.com/office/drawing/2014/main" id="{175CB2F5-3A7A-EDC6-0416-0A989A212493}"/>
                </a:ext>
              </a:extLst>
            </p:cNvPr>
            <p:cNvSpPr txBox="1"/>
            <p:nvPr/>
          </p:nvSpPr>
          <p:spPr>
            <a:xfrm>
              <a:off x="2626075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Self-funded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" name="Google Shape;68;p13">
            <a:extLst>
              <a:ext uri="{FF2B5EF4-FFF2-40B4-BE49-F238E27FC236}">
                <a16:creationId xmlns:a16="http://schemas.microsoft.com/office/drawing/2014/main" id="{E9E4E5BF-9361-B6DE-8A7E-13DCF2A54F31}"/>
              </a:ext>
            </a:extLst>
          </p:cNvPr>
          <p:cNvGrpSpPr/>
          <p:nvPr/>
        </p:nvGrpSpPr>
        <p:grpSpPr>
          <a:xfrm>
            <a:off x="3885963" y="1444203"/>
            <a:ext cx="1817500" cy="410394"/>
            <a:chOff x="3932825" y="1083150"/>
            <a:chExt cx="1363125" cy="307795"/>
          </a:xfrm>
        </p:grpSpPr>
        <p:sp>
          <p:nvSpPr>
            <p:cNvPr id="19" name="Google Shape;69;p13">
              <a:extLst>
                <a:ext uri="{FF2B5EF4-FFF2-40B4-BE49-F238E27FC236}">
                  <a16:creationId xmlns:a16="http://schemas.microsoft.com/office/drawing/2014/main" id="{77ACC656-AAAD-A990-9F08-27FB10BBD071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70;p13">
              <a:extLst>
                <a:ext uri="{FF2B5EF4-FFF2-40B4-BE49-F238E27FC236}">
                  <a16:creationId xmlns:a16="http://schemas.microsoft.com/office/drawing/2014/main" id="{471BA527-7A0C-AA96-A250-1B3EDD8A3F25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Campus assignment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" name="Google Shape;71;p13">
            <a:extLst>
              <a:ext uri="{FF2B5EF4-FFF2-40B4-BE49-F238E27FC236}">
                <a16:creationId xmlns:a16="http://schemas.microsoft.com/office/drawing/2014/main" id="{8D83DC13-D40E-5202-974A-73C2C2E57A86}"/>
              </a:ext>
            </a:extLst>
          </p:cNvPr>
          <p:cNvGrpSpPr/>
          <p:nvPr/>
        </p:nvGrpSpPr>
        <p:grpSpPr>
          <a:xfrm>
            <a:off x="5830597" y="1444201"/>
            <a:ext cx="1817500" cy="410394"/>
            <a:chOff x="3932825" y="1083150"/>
            <a:chExt cx="1363125" cy="307795"/>
          </a:xfrm>
        </p:grpSpPr>
        <p:sp>
          <p:nvSpPr>
            <p:cNvPr id="22" name="Google Shape;72;p13">
              <a:extLst>
                <a:ext uri="{FF2B5EF4-FFF2-40B4-BE49-F238E27FC236}">
                  <a16:creationId xmlns:a16="http://schemas.microsoft.com/office/drawing/2014/main" id="{E2EB9EA2-57C4-5410-5758-B3535E3791A7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73;p13">
              <a:extLst>
                <a:ext uri="{FF2B5EF4-FFF2-40B4-BE49-F238E27FC236}">
                  <a16:creationId xmlns:a16="http://schemas.microsoft.com/office/drawing/2014/main" id="{1AF75DBE-3AB4-A0F8-15A2-BCC03136CC20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Sponsorship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" name="Google Shape;74;p13">
            <a:extLst>
              <a:ext uri="{FF2B5EF4-FFF2-40B4-BE49-F238E27FC236}">
                <a16:creationId xmlns:a16="http://schemas.microsoft.com/office/drawing/2014/main" id="{26E15C4E-3A20-9734-21E4-A1F299ACBB4D}"/>
              </a:ext>
            </a:extLst>
          </p:cNvPr>
          <p:cNvGrpSpPr/>
          <p:nvPr/>
        </p:nvGrpSpPr>
        <p:grpSpPr>
          <a:xfrm>
            <a:off x="7775230" y="1444201"/>
            <a:ext cx="1817500" cy="410394"/>
            <a:chOff x="3932825" y="1083150"/>
            <a:chExt cx="1363125" cy="307795"/>
          </a:xfrm>
        </p:grpSpPr>
        <p:sp>
          <p:nvSpPr>
            <p:cNvPr id="25" name="Google Shape;75;p13">
              <a:extLst>
                <a:ext uri="{FF2B5EF4-FFF2-40B4-BE49-F238E27FC236}">
                  <a16:creationId xmlns:a16="http://schemas.microsoft.com/office/drawing/2014/main" id="{EA56733E-5E56-43FA-433F-F844EDC17A49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76;p13">
              <a:extLst>
                <a:ext uri="{FF2B5EF4-FFF2-40B4-BE49-F238E27FC236}">
                  <a16:creationId xmlns:a16="http://schemas.microsoft.com/office/drawing/2014/main" id="{0181FCE5-6381-5516-DEE2-6B641A5CE896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Collaboration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" name="Google Shape;77;p13">
            <a:extLst>
              <a:ext uri="{FF2B5EF4-FFF2-40B4-BE49-F238E27FC236}">
                <a16:creationId xmlns:a16="http://schemas.microsoft.com/office/drawing/2014/main" id="{2B78DDB8-3B00-CBA3-B850-58B46B5A84F4}"/>
              </a:ext>
            </a:extLst>
          </p:cNvPr>
          <p:cNvSpPr/>
          <p:nvPr/>
        </p:nvSpPr>
        <p:spPr>
          <a:xfrm>
            <a:off x="393133" y="2169096"/>
            <a:ext cx="5499600" cy="122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8" name="Google Shape;78;p13">
            <a:extLst>
              <a:ext uri="{FF2B5EF4-FFF2-40B4-BE49-F238E27FC236}">
                <a16:creationId xmlns:a16="http://schemas.microsoft.com/office/drawing/2014/main" id="{152849EE-1FF2-2452-5C10-D8F0C587D003}"/>
              </a:ext>
            </a:extLst>
          </p:cNvPr>
          <p:cNvSpPr txBox="1"/>
          <p:nvPr/>
        </p:nvSpPr>
        <p:spPr>
          <a:xfrm>
            <a:off x="393133" y="182036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Research background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Google Shape;79;p13">
            <a:extLst>
              <a:ext uri="{FF2B5EF4-FFF2-40B4-BE49-F238E27FC236}">
                <a16:creationId xmlns:a16="http://schemas.microsoft.com/office/drawing/2014/main" id="{8A864935-1668-D1EC-316C-C034EC19CE95}"/>
              </a:ext>
            </a:extLst>
          </p:cNvPr>
          <p:cNvSpPr/>
          <p:nvPr/>
        </p:nvSpPr>
        <p:spPr>
          <a:xfrm>
            <a:off x="6282533" y="2169096"/>
            <a:ext cx="5499600" cy="1222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30" name="Google Shape;80;p13">
            <a:extLst>
              <a:ext uri="{FF2B5EF4-FFF2-40B4-BE49-F238E27FC236}">
                <a16:creationId xmlns:a16="http://schemas.microsoft.com/office/drawing/2014/main" id="{BDF40CDF-B3B6-5FFD-C04D-67FAB05FEEA4}"/>
              </a:ext>
            </a:extLst>
          </p:cNvPr>
          <p:cNvSpPr txBox="1"/>
          <p:nvPr/>
        </p:nvSpPr>
        <p:spPr>
          <a:xfrm>
            <a:off x="6282533" y="182036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" name="Google Shape;81;p13">
            <a:extLst>
              <a:ext uri="{FF2B5EF4-FFF2-40B4-BE49-F238E27FC236}">
                <a16:creationId xmlns:a16="http://schemas.microsoft.com/office/drawing/2014/main" id="{6585F9C3-49F5-F3CE-5F94-3D466E2D613A}"/>
              </a:ext>
            </a:extLst>
          </p:cNvPr>
          <p:cNvGrpSpPr/>
          <p:nvPr/>
        </p:nvGrpSpPr>
        <p:grpSpPr>
          <a:xfrm>
            <a:off x="9719863" y="1444201"/>
            <a:ext cx="1817500" cy="410394"/>
            <a:chOff x="3932825" y="1083150"/>
            <a:chExt cx="1363125" cy="307795"/>
          </a:xfrm>
        </p:grpSpPr>
        <p:sp>
          <p:nvSpPr>
            <p:cNvPr id="32" name="Google Shape;82;p13">
              <a:extLst>
                <a:ext uri="{FF2B5EF4-FFF2-40B4-BE49-F238E27FC236}">
                  <a16:creationId xmlns:a16="http://schemas.microsoft.com/office/drawing/2014/main" id="{87399A2A-AD69-A0B2-6737-D177B2672D3F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" name="Google Shape;83;p13">
              <a:extLst>
                <a:ext uri="{FF2B5EF4-FFF2-40B4-BE49-F238E27FC236}">
                  <a16:creationId xmlns:a16="http://schemas.microsoft.com/office/drawing/2014/main" id="{BEFC8A22-34AF-957E-C207-67BD5AFE646D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Grant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" name="Google Shape;84;p13">
            <a:extLst>
              <a:ext uri="{FF2B5EF4-FFF2-40B4-BE49-F238E27FC236}">
                <a16:creationId xmlns:a16="http://schemas.microsoft.com/office/drawing/2014/main" id="{30211555-DF54-C87C-1732-DB3C5802A336}"/>
              </a:ext>
            </a:extLst>
          </p:cNvPr>
          <p:cNvSpPr txBox="1"/>
          <p:nvPr/>
        </p:nvSpPr>
        <p:spPr>
          <a:xfrm>
            <a:off x="401400" y="3493500"/>
            <a:ext cx="11389200" cy="41039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Target customers</a:t>
            </a:r>
            <a:endParaRPr sz="1067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" name="Google Shape;85;p13">
            <a:extLst>
              <a:ext uri="{FF2B5EF4-FFF2-40B4-BE49-F238E27FC236}">
                <a16:creationId xmlns:a16="http://schemas.microsoft.com/office/drawing/2014/main" id="{4E127EB8-C673-A58F-E677-CDB407152387}"/>
              </a:ext>
            </a:extLst>
          </p:cNvPr>
          <p:cNvGrpSpPr/>
          <p:nvPr/>
        </p:nvGrpSpPr>
        <p:grpSpPr>
          <a:xfrm>
            <a:off x="1949597" y="3493501"/>
            <a:ext cx="1817500" cy="410394"/>
            <a:chOff x="2474350" y="1083150"/>
            <a:chExt cx="1363125" cy="307795"/>
          </a:xfrm>
        </p:grpSpPr>
        <p:sp>
          <p:nvSpPr>
            <p:cNvPr id="36" name="Google Shape;86;p13">
              <a:extLst>
                <a:ext uri="{FF2B5EF4-FFF2-40B4-BE49-F238E27FC236}">
                  <a16:creationId xmlns:a16="http://schemas.microsoft.com/office/drawing/2014/main" id="{B5A42633-87F0-55CE-0360-B1946CA9C04F}"/>
                </a:ext>
              </a:extLst>
            </p:cNvPr>
            <p:cNvSpPr/>
            <p:nvPr/>
          </p:nvSpPr>
          <p:spPr>
            <a:xfrm>
              <a:off x="2474350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87;p13">
              <a:extLst>
                <a:ext uri="{FF2B5EF4-FFF2-40B4-BE49-F238E27FC236}">
                  <a16:creationId xmlns:a16="http://schemas.microsoft.com/office/drawing/2014/main" id="{2E3C4760-0F49-BC7A-CCCB-E1781AA99674}"/>
                </a:ext>
              </a:extLst>
            </p:cNvPr>
            <p:cNvSpPr txBox="1"/>
            <p:nvPr/>
          </p:nvSpPr>
          <p:spPr>
            <a:xfrm>
              <a:off x="2626075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Individuals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" name="Google Shape;88;p13">
            <a:extLst>
              <a:ext uri="{FF2B5EF4-FFF2-40B4-BE49-F238E27FC236}">
                <a16:creationId xmlns:a16="http://schemas.microsoft.com/office/drawing/2014/main" id="{4AAEF654-E7FE-4649-DDC2-59681E344FD8}"/>
              </a:ext>
            </a:extLst>
          </p:cNvPr>
          <p:cNvGrpSpPr/>
          <p:nvPr/>
        </p:nvGrpSpPr>
        <p:grpSpPr>
          <a:xfrm>
            <a:off x="3894230" y="3493503"/>
            <a:ext cx="1817500" cy="410394"/>
            <a:chOff x="3932825" y="1083150"/>
            <a:chExt cx="1363125" cy="307795"/>
          </a:xfrm>
        </p:grpSpPr>
        <p:sp>
          <p:nvSpPr>
            <p:cNvPr id="39" name="Google Shape;89;p13">
              <a:extLst>
                <a:ext uri="{FF2B5EF4-FFF2-40B4-BE49-F238E27FC236}">
                  <a16:creationId xmlns:a16="http://schemas.microsoft.com/office/drawing/2014/main" id="{B36A2523-8B24-6263-5E5E-C8BB3C2FBDF4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" name="Google Shape;90;p13">
              <a:extLst>
                <a:ext uri="{FF2B5EF4-FFF2-40B4-BE49-F238E27FC236}">
                  <a16:creationId xmlns:a16="http://schemas.microsoft.com/office/drawing/2014/main" id="{66B099F3-A536-190F-8069-133501FB81BF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Local governments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" name="Google Shape;91;p13">
            <a:extLst>
              <a:ext uri="{FF2B5EF4-FFF2-40B4-BE49-F238E27FC236}">
                <a16:creationId xmlns:a16="http://schemas.microsoft.com/office/drawing/2014/main" id="{BE28C365-D7BA-9161-6CD1-C8255797FD3C}"/>
              </a:ext>
            </a:extLst>
          </p:cNvPr>
          <p:cNvGrpSpPr/>
          <p:nvPr/>
        </p:nvGrpSpPr>
        <p:grpSpPr>
          <a:xfrm>
            <a:off x="5838863" y="3493503"/>
            <a:ext cx="1817500" cy="410394"/>
            <a:chOff x="3932825" y="1083150"/>
            <a:chExt cx="1363125" cy="307795"/>
          </a:xfrm>
        </p:grpSpPr>
        <p:sp>
          <p:nvSpPr>
            <p:cNvPr id="42" name="Google Shape;92;p13">
              <a:extLst>
                <a:ext uri="{FF2B5EF4-FFF2-40B4-BE49-F238E27FC236}">
                  <a16:creationId xmlns:a16="http://schemas.microsoft.com/office/drawing/2014/main" id="{797A3F04-B512-9812-CFA1-D24F22C4667C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" name="Google Shape;93;p13">
              <a:extLst>
                <a:ext uri="{FF2B5EF4-FFF2-40B4-BE49-F238E27FC236}">
                  <a16:creationId xmlns:a16="http://schemas.microsoft.com/office/drawing/2014/main" id="{CD8C5499-F2CA-BC3B-66AF-1CA4794026FB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National governments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" name="Google Shape;94;p13">
            <a:extLst>
              <a:ext uri="{FF2B5EF4-FFF2-40B4-BE49-F238E27FC236}">
                <a16:creationId xmlns:a16="http://schemas.microsoft.com/office/drawing/2014/main" id="{A15854C2-1A53-7497-4F9B-4F834DE11386}"/>
              </a:ext>
            </a:extLst>
          </p:cNvPr>
          <p:cNvGrpSpPr/>
          <p:nvPr/>
        </p:nvGrpSpPr>
        <p:grpSpPr>
          <a:xfrm>
            <a:off x="7783497" y="3493501"/>
            <a:ext cx="1817500" cy="410394"/>
            <a:chOff x="3932825" y="1083150"/>
            <a:chExt cx="1363125" cy="307795"/>
          </a:xfrm>
        </p:grpSpPr>
        <p:sp>
          <p:nvSpPr>
            <p:cNvPr id="45" name="Google Shape;95;p13">
              <a:extLst>
                <a:ext uri="{FF2B5EF4-FFF2-40B4-BE49-F238E27FC236}">
                  <a16:creationId xmlns:a16="http://schemas.microsoft.com/office/drawing/2014/main" id="{D8A69C94-EBC9-F9B8-9876-BA38D2270FF2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" name="Google Shape;96;p13">
              <a:extLst>
                <a:ext uri="{FF2B5EF4-FFF2-40B4-BE49-F238E27FC236}">
                  <a16:creationId xmlns:a16="http://schemas.microsoft.com/office/drawing/2014/main" id="{807B7311-F7BE-0036-DC92-4D3E2690B5B1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SMEs or startup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" name="Google Shape;97;p13">
            <a:extLst>
              <a:ext uri="{FF2B5EF4-FFF2-40B4-BE49-F238E27FC236}">
                <a16:creationId xmlns:a16="http://schemas.microsoft.com/office/drawing/2014/main" id="{EA16FCD5-9B38-F6F6-291D-088411ABA85A}"/>
              </a:ext>
            </a:extLst>
          </p:cNvPr>
          <p:cNvGrpSpPr/>
          <p:nvPr/>
        </p:nvGrpSpPr>
        <p:grpSpPr>
          <a:xfrm>
            <a:off x="9728130" y="3493503"/>
            <a:ext cx="1817500" cy="410394"/>
            <a:chOff x="3932825" y="1083150"/>
            <a:chExt cx="1363125" cy="307795"/>
          </a:xfrm>
        </p:grpSpPr>
        <p:sp>
          <p:nvSpPr>
            <p:cNvPr id="48" name="Google Shape;98;p13">
              <a:extLst>
                <a:ext uri="{FF2B5EF4-FFF2-40B4-BE49-F238E27FC236}">
                  <a16:creationId xmlns:a16="http://schemas.microsoft.com/office/drawing/2014/main" id="{27C6EAF8-1E47-83E1-8536-15CB4BEF4E88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" name="Google Shape;99;p13">
              <a:extLst>
                <a:ext uri="{FF2B5EF4-FFF2-40B4-BE49-F238E27FC236}">
                  <a16:creationId xmlns:a16="http://schemas.microsoft.com/office/drawing/2014/main" id="{C7880216-594F-58D5-82FD-0143719E505D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Industrial companies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" name="Google Shape;100;p13">
            <a:extLst>
              <a:ext uri="{FF2B5EF4-FFF2-40B4-BE49-F238E27FC236}">
                <a16:creationId xmlns:a16="http://schemas.microsoft.com/office/drawing/2014/main" id="{64EC1B41-C92C-83FB-4375-2FFB4BACADA6}"/>
              </a:ext>
            </a:extLst>
          </p:cNvPr>
          <p:cNvSpPr/>
          <p:nvPr/>
        </p:nvSpPr>
        <p:spPr>
          <a:xfrm>
            <a:off x="393133" y="4227967"/>
            <a:ext cx="3615600" cy="122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1" name="Google Shape;101;p13">
            <a:extLst>
              <a:ext uri="{FF2B5EF4-FFF2-40B4-BE49-F238E27FC236}">
                <a16:creationId xmlns:a16="http://schemas.microsoft.com/office/drawing/2014/main" id="{1E04A756-C53A-89B2-DE8F-6731B497413C}"/>
              </a:ext>
            </a:extLst>
          </p:cNvPr>
          <p:cNvSpPr txBox="1"/>
          <p:nvPr/>
        </p:nvSpPr>
        <p:spPr>
          <a:xfrm>
            <a:off x="393133" y="3879233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102;p13">
            <a:extLst>
              <a:ext uri="{FF2B5EF4-FFF2-40B4-BE49-F238E27FC236}">
                <a16:creationId xmlns:a16="http://schemas.microsoft.com/office/drawing/2014/main" id="{83338467-312B-A607-28B3-B843D217F89F}"/>
              </a:ext>
            </a:extLst>
          </p:cNvPr>
          <p:cNvSpPr/>
          <p:nvPr/>
        </p:nvSpPr>
        <p:spPr>
          <a:xfrm>
            <a:off x="4279933" y="4227967"/>
            <a:ext cx="3615600" cy="1222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3" name="Google Shape;103;p13">
            <a:extLst>
              <a:ext uri="{FF2B5EF4-FFF2-40B4-BE49-F238E27FC236}">
                <a16:creationId xmlns:a16="http://schemas.microsoft.com/office/drawing/2014/main" id="{A2CA5F03-8DF9-4B44-E8FF-EC1F4FA57999}"/>
              </a:ext>
            </a:extLst>
          </p:cNvPr>
          <p:cNvSpPr txBox="1"/>
          <p:nvPr/>
        </p:nvSpPr>
        <p:spPr>
          <a:xfrm>
            <a:off x="4279933" y="3879233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Offered solution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104;p13">
            <a:extLst>
              <a:ext uri="{FF2B5EF4-FFF2-40B4-BE49-F238E27FC236}">
                <a16:creationId xmlns:a16="http://schemas.microsoft.com/office/drawing/2014/main" id="{39686C67-D7C9-BF5A-A232-9CCF7B1AF54F}"/>
              </a:ext>
            </a:extLst>
          </p:cNvPr>
          <p:cNvSpPr/>
          <p:nvPr/>
        </p:nvSpPr>
        <p:spPr>
          <a:xfrm>
            <a:off x="8175000" y="4227967"/>
            <a:ext cx="3615600" cy="122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5" name="Google Shape;105;p13">
            <a:extLst>
              <a:ext uri="{FF2B5EF4-FFF2-40B4-BE49-F238E27FC236}">
                <a16:creationId xmlns:a16="http://schemas.microsoft.com/office/drawing/2014/main" id="{79CA4544-D935-7D64-BFCE-35A50E1E3C2E}"/>
              </a:ext>
            </a:extLst>
          </p:cNvPr>
          <p:cNvSpPr txBox="1"/>
          <p:nvPr/>
        </p:nvSpPr>
        <p:spPr>
          <a:xfrm>
            <a:off x="8166733" y="3879233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 solving method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106;p13">
            <a:extLst>
              <a:ext uri="{FF2B5EF4-FFF2-40B4-BE49-F238E27FC236}">
                <a16:creationId xmlns:a16="http://schemas.microsoft.com/office/drawing/2014/main" id="{A8D9E9D4-9346-B6F8-135B-23CF4801E382}"/>
              </a:ext>
            </a:extLst>
          </p:cNvPr>
          <p:cNvSpPr txBox="1"/>
          <p:nvPr/>
        </p:nvSpPr>
        <p:spPr>
          <a:xfrm>
            <a:off x="393133" y="5552367"/>
            <a:ext cx="11389200" cy="41039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 status</a:t>
            </a:r>
            <a:endParaRPr sz="1067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" name="Google Shape;107;p13">
            <a:extLst>
              <a:ext uri="{FF2B5EF4-FFF2-40B4-BE49-F238E27FC236}">
                <a16:creationId xmlns:a16="http://schemas.microsoft.com/office/drawing/2014/main" id="{752CBC74-5D21-A359-1DDF-B11F87738749}"/>
              </a:ext>
            </a:extLst>
          </p:cNvPr>
          <p:cNvGrpSpPr/>
          <p:nvPr/>
        </p:nvGrpSpPr>
        <p:grpSpPr>
          <a:xfrm>
            <a:off x="1941330" y="5552368"/>
            <a:ext cx="1817500" cy="410394"/>
            <a:chOff x="2474350" y="1083150"/>
            <a:chExt cx="1363125" cy="307795"/>
          </a:xfrm>
        </p:grpSpPr>
        <p:sp>
          <p:nvSpPr>
            <p:cNvPr id="58" name="Google Shape;108;p13">
              <a:extLst>
                <a:ext uri="{FF2B5EF4-FFF2-40B4-BE49-F238E27FC236}">
                  <a16:creationId xmlns:a16="http://schemas.microsoft.com/office/drawing/2014/main" id="{9938BDBB-8915-C716-0682-307362AE4BB1}"/>
                </a:ext>
              </a:extLst>
            </p:cNvPr>
            <p:cNvSpPr/>
            <p:nvPr/>
          </p:nvSpPr>
          <p:spPr>
            <a:xfrm>
              <a:off x="2474350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" name="Google Shape;109;p13">
              <a:extLst>
                <a:ext uri="{FF2B5EF4-FFF2-40B4-BE49-F238E27FC236}">
                  <a16:creationId xmlns:a16="http://schemas.microsoft.com/office/drawing/2014/main" id="{9898D593-4576-EA14-E4CC-FA2AD4BAFD55}"/>
                </a:ext>
              </a:extLst>
            </p:cNvPr>
            <p:cNvSpPr txBox="1"/>
            <p:nvPr/>
          </p:nvSpPr>
          <p:spPr>
            <a:xfrm>
              <a:off x="2626075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Remain idea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" name="Google Shape;110;p13">
            <a:extLst>
              <a:ext uri="{FF2B5EF4-FFF2-40B4-BE49-F238E27FC236}">
                <a16:creationId xmlns:a16="http://schemas.microsoft.com/office/drawing/2014/main" id="{AD0FC31F-35B1-AB5B-999A-84DDA1619268}"/>
              </a:ext>
            </a:extLst>
          </p:cNvPr>
          <p:cNvGrpSpPr/>
          <p:nvPr/>
        </p:nvGrpSpPr>
        <p:grpSpPr>
          <a:xfrm>
            <a:off x="3885963" y="5552368"/>
            <a:ext cx="1817500" cy="410394"/>
            <a:chOff x="3932825" y="1083150"/>
            <a:chExt cx="1363125" cy="307795"/>
          </a:xfrm>
        </p:grpSpPr>
        <p:sp>
          <p:nvSpPr>
            <p:cNvPr id="61" name="Google Shape;111;p13">
              <a:extLst>
                <a:ext uri="{FF2B5EF4-FFF2-40B4-BE49-F238E27FC236}">
                  <a16:creationId xmlns:a16="http://schemas.microsoft.com/office/drawing/2014/main" id="{2AB79147-F78F-7FDE-3E04-D49D27BF569F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" name="Google Shape;112;p13">
              <a:extLst>
                <a:ext uri="{FF2B5EF4-FFF2-40B4-BE49-F238E27FC236}">
                  <a16:creationId xmlns:a16="http://schemas.microsoft.com/office/drawing/2014/main" id="{DACEAB04-5CE0-E100-850B-BF51F36C55C8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Initial prototype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" name="Google Shape;113;p13">
            <a:extLst>
              <a:ext uri="{FF2B5EF4-FFF2-40B4-BE49-F238E27FC236}">
                <a16:creationId xmlns:a16="http://schemas.microsoft.com/office/drawing/2014/main" id="{A80FC43B-1C60-9472-CDBF-FCE2FEB8D4FA}"/>
              </a:ext>
            </a:extLst>
          </p:cNvPr>
          <p:cNvGrpSpPr/>
          <p:nvPr/>
        </p:nvGrpSpPr>
        <p:grpSpPr>
          <a:xfrm>
            <a:off x="5830597" y="5552368"/>
            <a:ext cx="1817500" cy="410394"/>
            <a:chOff x="3932825" y="1083150"/>
            <a:chExt cx="1363125" cy="307795"/>
          </a:xfrm>
        </p:grpSpPr>
        <p:sp>
          <p:nvSpPr>
            <p:cNvPr id="64" name="Google Shape;114;p13">
              <a:extLst>
                <a:ext uri="{FF2B5EF4-FFF2-40B4-BE49-F238E27FC236}">
                  <a16:creationId xmlns:a16="http://schemas.microsoft.com/office/drawing/2014/main" id="{73437B0A-F8A5-194C-E1C3-7D4C7FA8CB07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" name="Google Shape;115;p13">
              <a:extLst>
                <a:ext uri="{FF2B5EF4-FFF2-40B4-BE49-F238E27FC236}">
                  <a16:creationId xmlns:a16="http://schemas.microsoft.com/office/drawing/2014/main" id="{6A0C350F-25AC-11A0-BCEA-73C7E6CA1E0D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Finished product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" name="Google Shape;116;p13">
            <a:extLst>
              <a:ext uri="{FF2B5EF4-FFF2-40B4-BE49-F238E27FC236}">
                <a16:creationId xmlns:a16="http://schemas.microsoft.com/office/drawing/2014/main" id="{1D550D72-10BC-6D9A-580D-4964D7490D1F}"/>
              </a:ext>
            </a:extLst>
          </p:cNvPr>
          <p:cNvGrpSpPr/>
          <p:nvPr/>
        </p:nvGrpSpPr>
        <p:grpSpPr>
          <a:xfrm>
            <a:off x="7775230" y="5552368"/>
            <a:ext cx="1817500" cy="410394"/>
            <a:chOff x="3932825" y="1083150"/>
            <a:chExt cx="1363125" cy="307795"/>
          </a:xfrm>
        </p:grpSpPr>
        <p:sp>
          <p:nvSpPr>
            <p:cNvPr id="67" name="Google Shape;117;p13">
              <a:extLst>
                <a:ext uri="{FF2B5EF4-FFF2-40B4-BE49-F238E27FC236}">
                  <a16:creationId xmlns:a16="http://schemas.microsoft.com/office/drawing/2014/main" id="{D21EDCEA-54E3-6535-80C0-44F55C8D50E4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" name="Google Shape;118;p13">
              <a:extLst>
                <a:ext uri="{FF2B5EF4-FFF2-40B4-BE49-F238E27FC236}">
                  <a16:creationId xmlns:a16="http://schemas.microsoft.com/office/drawing/2014/main" id="{7760D29B-67CD-1CBC-0E16-AC3E084469E4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Used by industry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" name="Google Shape;119;p13">
            <a:extLst>
              <a:ext uri="{FF2B5EF4-FFF2-40B4-BE49-F238E27FC236}">
                <a16:creationId xmlns:a16="http://schemas.microsoft.com/office/drawing/2014/main" id="{185BB8FA-F319-83DE-7373-345ED5D7FE66}"/>
              </a:ext>
            </a:extLst>
          </p:cNvPr>
          <p:cNvGrpSpPr/>
          <p:nvPr/>
        </p:nvGrpSpPr>
        <p:grpSpPr>
          <a:xfrm>
            <a:off x="9719863" y="5552369"/>
            <a:ext cx="1817500" cy="410394"/>
            <a:chOff x="3932825" y="1083150"/>
            <a:chExt cx="1363125" cy="307795"/>
          </a:xfrm>
        </p:grpSpPr>
        <p:sp>
          <p:nvSpPr>
            <p:cNvPr id="70" name="Google Shape;120;p13">
              <a:extLst>
                <a:ext uri="{FF2B5EF4-FFF2-40B4-BE49-F238E27FC236}">
                  <a16:creationId xmlns:a16="http://schemas.microsoft.com/office/drawing/2014/main" id="{0FC4012D-8BF2-745A-F507-0C0E42955120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" name="Google Shape;121;p13">
              <a:extLst>
                <a:ext uri="{FF2B5EF4-FFF2-40B4-BE49-F238E27FC236}">
                  <a16:creationId xmlns:a16="http://schemas.microsoft.com/office/drawing/2014/main" id="{F891AFC1-53AE-AE07-4E40-06734E6C6766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Used by individuals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2" name="Google Shape;122;p13">
            <a:extLst>
              <a:ext uri="{FF2B5EF4-FFF2-40B4-BE49-F238E27FC236}">
                <a16:creationId xmlns:a16="http://schemas.microsoft.com/office/drawing/2014/main" id="{E1624835-2219-3D20-729E-E3D03BE0ABA3}"/>
              </a:ext>
            </a:extLst>
          </p:cNvPr>
          <p:cNvSpPr txBox="1"/>
          <p:nvPr/>
        </p:nvSpPr>
        <p:spPr>
          <a:xfrm>
            <a:off x="393133" y="6064367"/>
            <a:ext cx="11389200" cy="41039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Recognition level</a:t>
            </a:r>
            <a:endParaRPr sz="1067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3" name="Google Shape;123;p13">
            <a:extLst>
              <a:ext uri="{FF2B5EF4-FFF2-40B4-BE49-F238E27FC236}">
                <a16:creationId xmlns:a16="http://schemas.microsoft.com/office/drawing/2014/main" id="{EF3EAD05-DCAE-64F1-30ED-910841B98510}"/>
              </a:ext>
            </a:extLst>
          </p:cNvPr>
          <p:cNvGrpSpPr/>
          <p:nvPr/>
        </p:nvGrpSpPr>
        <p:grpSpPr>
          <a:xfrm>
            <a:off x="1941330" y="6064368"/>
            <a:ext cx="1817500" cy="410394"/>
            <a:chOff x="2474350" y="1083150"/>
            <a:chExt cx="1363125" cy="307795"/>
          </a:xfrm>
        </p:grpSpPr>
        <p:sp>
          <p:nvSpPr>
            <p:cNvPr id="74" name="Google Shape;124;p13">
              <a:extLst>
                <a:ext uri="{FF2B5EF4-FFF2-40B4-BE49-F238E27FC236}">
                  <a16:creationId xmlns:a16="http://schemas.microsoft.com/office/drawing/2014/main" id="{729ECC30-0881-3A65-B242-9D803B6C6E1E}"/>
                </a:ext>
              </a:extLst>
            </p:cNvPr>
            <p:cNvSpPr/>
            <p:nvPr/>
          </p:nvSpPr>
          <p:spPr>
            <a:xfrm>
              <a:off x="2474350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125;p13">
              <a:extLst>
                <a:ext uri="{FF2B5EF4-FFF2-40B4-BE49-F238E27FC236}">
                  <a16:creationId xmlns:a16="http://schemas.microsoft.com/office/drawing/2014/main" id="{230B5E6D-DC52-3CAB-2E95-27812FF1E8BE}"/>
                </a:ext>
              </a:extLst>
            </p:cNvPr>
            <p:cNvSpPr txBox="1"/>
            <p:nvPr/>
          </p:nvSpPr>
          <p:spPr>
            <a:xfrm>
              <a:off x="2626075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Internal campus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126;p13">
            <a:extLst>
              <a:ext uri="{FF2B5EF4-FFF2-40B4-BE49-F238E27FC236}">
                <a16:creationId xmlns:a16="http://schemas.microsoft.com/office/drawing/2014/main" id="{5138EBF8-E0A1-2C76-D5AD-6F47B8FE5D40}"/>
              </a:ext>
            </a:extLst>
          </p:cNvPr>
          <p:cNvGrpSpPr/>
          <p:nvPr/>
        </p:nvGrpSpPr>
        <p:grpSpPr>
          <a:xfrm>
            <a:off x="3885963" y="6064368"/>
            <a:ext cx="1817500" cy="410394"/>
            <a:chOff x="3932825" y="1083150"/>
            <a:chExt cx="1363125" cy="307795"/>
          </a:xfrm>
        </p:grpSpPr>
        <p:sp>
          <p:nvSpPr>
            <p:cNvPr id="77" name="Google Shape;127;p13">
              <a:extLst>
                <a:ext uri="{FF2B5EF4-FFF2-40B4-BE49-F238E27FC236}">
                  <a16:creationId xmlns:a16="http://schemas.microsoft.com/office/drawing/2014/main" id="{8ABAF35A-D763-28DF-5288-4EF4612A61E2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128;p13">
              <a:extLst>
                <a:ext uri="{FF2B5EF4-FFF2-40B4-BE49-F238E27FC236}">
                  <a16:creationId xmlns:a16="http://schemas.microsoft.com/office/drawing/2014/main" id="{25EC4A4F-AE11-E2EA-AD9F-445FBC115879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129;p13">
            <a:extLst>
              <a:ext uri="{FF2B5EF4-FFF2-40B4-BE49-F238E27FC236}">
                <a16:creationId xmlns:a16="http://schemas.microsoft.com/office/drawing/2014/main" id="{D6EA9402-C898-2ECB-01F5-7E0C4D90D4FC}"/>
              </a:ext>
            </a:extLst>
          </p:cNvPr>
          <p:cNvGrpSpPr/>
          <p:nvPr/>
        </p:nvGrpSpPr>
        <p:grpSpPr>
          <a:xfrm>
            <a:off x="5830597" y="6064368"/>
            <a:ext cx="1817500" cy="410394"/>
            <a:chOff x="3932825" y="1083150"/>
            <a:chExt cx="1363125" cy="307795"/>
          </a:xfrm>
        </p:grpSpPr>
        <p:sp>
          <p:nvSpPr>
            <p:cNvPr id="80" name="Google Shape;130;p13">
              <a:extLst>
                <a:ext uri="{FF2B5EF4-FFF2-40B4-BE49-F238E27FC236}">
                  <a16:creationId xmlns:a16="http://schemas.microsoft.com/office/drawing/2014/main" id="{E7462059-6614-EA23-D57E-5DA20EE6236F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" name="Google Shape;131;p13">
              <a:extLst>
                <a:ext uri="{FF2B5EF4-FFF2-40B4-BE49-F238E27FC236}">
                  <a16:creationId xmlns:a16="http://schemas.microsoft.com/office/drawing/2014/main" id="{33172460-A9F5-9C73-0356-C528AE4119CC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National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" name="Google Shape;132;p13">
            <a:extLst>
              <a:ext uri="{FF2B5EF4-FFF2-40B4-BE49-F238E27FC236}">
                <a16:creationId xmlns:a16="http://schemas.microsoft.com/office/drawing/2014/main" id="{9E93DFC8-FAED-EEEF-C35B-B429F6CFF6A8}"/>
              </a:ext>
            </a:extLst>
          </p:cNvPr>
          <p:cNvGrpSpPr/>
          <p:nvPr/>
        </p:nvGrpSpPr>
        <p:grpSpPr>
          <a:xfrm>
            <a:off x="7775230" y="6064368"/>
            <a:ext cx="1817500" cy="410394"/>
            <a:chOff x="3932825" y="1083150"/>
            <a:chExt cx="1363125" cy="307795"/>
          </a:xfrm>
        </p:grpSpPr>
        <p:sp>
          <p:nvSpPr>
            <p:cNvPr id="83" name="Google Shape;133;p13">
              <a:extLst>
                <a:ext uri="{FF2B5EF4-FFF2-40B4-BE49-F238E27FC236}">
                  <a16:creationId xmlns:a16="http://schemas.microsoft.com/office/drawing/2014/main" id="{15B2077A-6C9D-3264-2497-6500B6F0ACA2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134;p13">
              <a:extLst>
                <a:ext uri="{FF2B5EF4-FFF2-40B4-BE49-F238E27FC236}">
                  <a16:creationId xmlns:a16="http://schemas.microsoft.com/office/drawing/2014/main" id="{3AF8F2A0-E78B-9870-EF0B-444A90CDADC0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Regional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" name="Google Shape;135;p13">
            <a:extLst>
              <a:ext uri="{FF2B5EF4-FFF2-40B4-BE49-F238E27FC236}">
                <a16:creationId xmlns:a16="http://schemas.microsoft.com/office/drawing/2014/main" id="{E66DA143-CD90-4A49-473F-E5824721BAF0}"/>
              </a:ext>
            </a:extLst>
          </p:cNvPr>
          <p:cNvGrpSpPr/>
          <p:nvPr/>
        </p:nvGrpSpPr>
        <p:grpSpPr>
          <a:xfrm>
            <a:off x="9719863" y="6064368"/>
            <a:ext cx="1817500" cy="410394"/>
            <a:chOff x="3932825" y="1083150"/>
            <a:chExt cx="1363125" cy="307795"/>
          </a:xfrm>
        </p:grpSpPr>
        <p:sp>
          <p:nvSpPr>
            <p:cNvPr id="86" name="Google Shape;136;p13">
              <a:extLst>
                <a:ext uri="{FF2B5EF4-FFF2-40B4-BE49-F238E27FC236}">
                  <a16:creationId xmlns:a16="http://schemas.microsoft.com/office/drawing/2014/main" id="{9CDDDD99-2870-1796-9A08-C5C6AF3C5049}"/>
                </a:ext>
              </a:extLst>
            </p:cNvPr>
            <p:cNvSpPr/>
            <p:nvPr/>
          </p:nvSpPr>
          <p:spPr>
            <a:xfrm>
              <a:off x="3932825" y="1156050"/>
              <a:ext cx="162300" cy="162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137;p13">
              <a:extLst>
                <a:ext uri="{FF2B5EF4-FFF2-40B4-BE49-F238E27FC236}">
                  <a16:creationId xmlns:a16="http://schemas.microsoft.com/office/drawing/2014/main" id="{C2E4DC19-90F2-92B9-2F34-0945C8B98600}"/>
                </a:ext>
              </a:extLst>
            </p:cNvPr>
            <p:cNvSpPr txBox="1"/>
            <p:nvPr/>
          </p:nvSpPr>
          <p:spPr>
            <a:xfrm>
              <a:off x="4084550" y="1083150"/>
              <a:ext cx="1211400" cy="30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" sz="1067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Global</a:t>
              </a:r>
              <a:endParaRPr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6132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4;p14">
            <a:extLst>
              <a:ext uri="{FF2B5EF4-FFF2-40B4-BE49-F238E27FC236}">
                <a16:creationId xmlns:a16="http://schemas.microsoft.com/office/drawing/2014/main" id="{FE4426A5-29E1-9368-3638-5CEC7A6D697B}"/>
              </a:ext>
            </a:extLst>
          </p:cNvPr>
          <p:cNvSpPr/>
          <p:nvPr/>
        </p:nvSpPr>
        <p:spPr>
          <a:xfrm>
            <a:off x="1" y="155401"/>
            <a:ext cx="145600" cy="338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5;p14">
            <a:extLst>
              <a:ext uri="{FF2B5EF4-FFF2-40B4-BE49-F238E27FC236}">
                <a16:creationId xmlns:a16="http://schemas.microsoft.com/office/drawing/2014/main" id="{64B6CF91-82FD-6C62-DA60-5B3995E8631A}"/>
              </a:ext>
            </a:extLst>
          </p:cNvPr>
          <p:cNvSpPr txBox="1"/>
          <p:nvPr/>
        </p:nvSpPr>
        <p:spPr>
          <a:xfrm>
            <a:off x="252346" y="148037"/>
            <a:ext cx="5522853" cy="400069"/>
          </a:xfrm>
          <a:prstGeom prst="rect">
            <a:avLst/>
          </a:prstGeom>
          <a:noFill/>
          <a:ln>
            <a:noFill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" sz="2000" b="1" dirty="0">
                <a:solidFill>
                  <a:srgbClr val="103E76"/>
                </a:solidFill>
                <a:latin typeface="Poppins"/>
                <a:ea typeface="Poppins"/>
                <a:cs typeface="Poppins"/>
                <a:sym typeface="Poppins"/>
              </a:rPr>
              <a:t>VALUE PROPOSITION CANVAS</a:t>
            </a:r>
            <a:endParaRPr sz="2000" b="1" dirty="0">
              <a:solidFill>
                <a:srgbClr val="103E76"/>
              </a:solidFill>
            </a:endParaRPr>
          </a:p>
        </p:txBody>
      </p:sp>
      <p:sp>
        <p:nvSpPr>
          <p:cNvPr id="8" name="Google Shape;148;p14">
            <a:extLst>
              <a:ext uri="{FF2B5EF4-FFF2-40B4-BE49-F238E27FC236}">
                <a16:creationId xmlns:a16="http://schemas.microsoft.com/office/drawing/2014/main" id="{E2BD3517-887E-8F4F-A52D-A5EDB2B7DF5D}"/>
              </a:ext>
            </a:extLst>
          </p:cNvPr>
          <p:cNvSpPr/>
          <p:nvPr/>
        </p:nvSpPr>
        <p:spPr>
          <a:xfrm>
            <a:off x="393133" y="848300"/>
            <a:ext cx="2752000" cy="370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9" name="Google Shape;149;p14">
            <a:extLst>
              <a:ext uri="{FF2B5EF4-FFF2-40B4-BE49-F238E27FC236}">
                <a16:creationId xmlns:a16="http://schemas.microsoft.com/office/drawing/2014/main" id="{60EDDDFE-9A07-FBD2-21DC-2B91CC07EB94}"/>
              </a:ext>
            </a:extLst>
          </p:cNvPr>
          <p:cNvSpPr txBox="1"/>
          <p:nvPr/>
        </p:nvSpPr>
        <p:spPr>
          <a:xfrm>
            <a:off x="393133" y="49956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Products/services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50;p14">
            <a:extLst>
              <a:ext uri="{FF2B5EF4-FFF2-40B4-BE49-F238E27FC236}">
                <a16:creationId xmlns:a16="http://schemas.microsoft.com/office/drawing/2014/main" id="{3C8B1D97-C5BE-CA54-8EDB-82CFD096977B}"/>
              </a:ext>
            </a:extLst>
          </p:cNvPr>
          <p:cNvSpPr/>
          <p:nvPr/>
        </p:nvSpPr>
        <p:spPr>
          <a:xfrm>
            <a:off x="3235900" y="848300"/>
            <a:ext cx="2752000" cy="16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1" name="Google Shape;151;p14">
            <a:extLst>
              <a:ext uri="{FF2B5EF4-FFF2-40B4-BE49-F238E27FC236}">
                <a16:creationId xmlns:a16="http://schemas.microsoft.com/office/drawing/2014/main" id="{0148AA0A-1BC7-2087-1758-CF7977529393}"/>
              </a:ext>
            </a:extLst>
          </p:cNvPr>
          <p:cNvSpPr txBox="1"/>
          <p:nvPr/>
        </p:nvSpPr>
        <p:spPr>
          <a:xfrm>
            <a:off x="3235900" y="499567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Gain creators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52;p14">
            <a:extLst>
              <a:ext uri="{FF2B5EF4-FFF2-40B4-BE49-F238E27FC236}">
                <a16:creationId xmlns:a16="http://schemas.microsoft.com/office/drawing/2014/main" id="{9AD2A322-9959-6501-BE62-6941115B337C}"/>
              </a:ext>
            </a:extLst>
          </p:cNvPr>
          <p:cNvSpPr/>
          <p:nvPr/>
        </p:nvSpPr>
        <p:spPr>
          <a:xfrm>
            <a:off x="3235900" y="2861367"/>
            <a:ext cx="2752000" cy="16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3" name="Google Shape;153;p14">
            <a:extLst>
              <a:ext uri="{FF2B5EF4-FFF2-40B4-BE49-F238E27FC236}">
                <a16:creationId xmlns:a16="http://schemas.microsoft.com/office/drawing/2014/main" id="{BC3CE6E1-181E-394A-06E8-402D56F761B2}"/>
              </a:ext>
            </a:extLst>
          </p:cNvPr>
          <p:cNvSpPr txBox="1"/>
          <p:nvPr/>
        </p:nvSpPr>
        <p:spPr>
          <a:xfrm>
            <a:off x="3235900" y="2515967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Pain relievers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154;p14">
            <a:extLst>
              <a:ext uri="{FF2B5EF4-FFF2-40B4-BE49-F238E27FC236}">
                <a16:creationId xmlns:a16="http://schemas.microsoft.com/office/drawing/2014/main" id="{5D89400B-320F-94A5-2655-6C640E6AC6C3}"/>
              </a:ext>
            </a:extLst>
          </p:cNvPr>
          <p:cNvSpPr/>
          <p:nvPr/>
        </p:nvSpPr>
        <p:spPr>
          <a:xfrm>
            <a:off x="6211328" y="876367"/>
            <a:ext cx="2752000" cy="169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5" name="Google Shape;155;p14">
            <a:extLst>
              <a:ext uri="{FF2B5EF4-FFF2-40B4-BE49-F238E27FC236}">
                <a16:creationId xmlns:a16="http://schemas.microsoft.com/office/drawing/2014/main" id="{FB7AAACA-8816-FBCF-7846-37EE4833C701}"/>
              </a:ext>
            </a:extLst>
          </p:cNvPr>
          <p:cNvSpPr txBox="1"/>
          <p:nvPr/>
        </p:nvSpPr>
        <p:spPr>
          <a:xfrm>
            <a:off x="6211333" y="527633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Gains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56;p14">
            <a:extLst>
              <a:ext uri="{FF2B5EF4-FFF2-40B4-BE49-F238E27FC236}">
                <a16:creationId xmlns:a16="http://schemas.microsoft.com/office/drawing/2014/main" id="{60DE5939-E898-6044-3DEC-508B81158AC1}"/>
              </a:ext>
            </a:extLst>
          </p:cNvPr>
          <p:cNvSpPr/>
          <p:nvPr/>
        </p:nvSpPr>
        <p:spPr>
          <a:xfrm>
            <a:off x="6211328" y="2889433"/>
            <a:ext cx="2752000" cy="169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7" name="Google Shape;157;p14">
            <a:extLst>
              <a:ext uri="{FF2B5EF4-FFF2-40B4-BE49-F238E27FC236}">
                <a16:creationId xmlns:a16="http://schemas.microsoft.com/office/drawing/2014/main" id="{82682104-7AE3-BFE7-B89C-0660E2814BFE}"/>
              </a:ext>
            </a:extLst>
          </p:cNvPr>
          <p:cNvSpPr txBox="1"/>
          <p:nvPr/>
        </p:nvSpPr>
        <p:spPr>
          <a:xfrm>
            <a:off x="6211333" y="2544033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Pains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58;p14">
            <a:extLst>
              <a:ext uri="{FF2B5EF4-FFF2-40B4-BE49-F238E27FC236}">
                <a16:creationId xmlns:a16="http://schemas.microsoft.com/office/drawing/2014/main" id="{059E71D1-4F12-82C6-D210-CB70DD998200}"/>
              </a:ext>
            </a:extLst>
          </p:cNvPr>
          <p:cNvSpPr/>
          <p:nvPr/>
        </p:nvSpPr>
        <p:spPr>
          <a:xfrm>
            <a:off x="9041761" y="876367"/>
            <a:ext cx="2752000" cy="370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9" name="Google Shape;159;p14">
            <a:extLst>
              <a:ext uri="{FF2B5EF4-FFF2-40B4-BE49-F238E27FC236}">
                <a16:creationId xmlns:a16="http://schemas.microsoft.com/office/drawing/2014/main" id="{E302F682-E0C3-5B55-7215-19D4EF6455D5}"/>
              </a:ext>
            </a:extLst>
          </p:cNvPr>
          <p:cNvSpPr txBox="1"/>
          <p:nvPr/>
        </p:nvSpPr>
        <p:spPr>
          <a:xfrm>
            <a:off x="9041767" y="527633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Customer need to do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160;p14">
            <a:extLst>
              <a:ext uri="{FF2B5EF4-FFF2-40B4-BE49-F238E27FC236}">
                <a16:creationId xmlns:a16="http://schemas.microsoft.com/office/drawing/2014/main" id="{1D94112D-64A0-7917-5DE1-B011C9766B87}"/>
              </a:ext>
            </a:extLst>
          </p:cNvPr>
          <p:cNvSpPr/>
          <p:nvPr/>
        </p:nvSpPr>
        <p:spPr>
          <a:xfrm>
            <a:off x="5775200" y="2243500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3E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1" name="Google Shape;161;p14">
            <a:extLst>
              <a:ext uri="{FF2B5EF4-FFF2-40B4-BE49-F238E27FC236}">
                <a16:creationId xmlns:a16="http://schemas.microsoft.com/office/drawing/2014/main" id="{260D9234-03EE-CF21-5842-3F253CBDBE77}"/>
              </a:ext>
            </a:extLst>
          </p:cNvPr>
          <p:cNvSpPr/>
          <p:nvPr/>
        </p:nvSpPr>
        <p:spPr>
          <a:xfrm flipH="1">
            <a:off x="6096000" y="2243500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2" name="Google Shape;162;p14">
            <a:extLst>
              <a:ext uri="{FF2B5EF4-FFF2-40B4-BE49-F238E27FC236}">
                <a16:creationId xmlns:a16="http://schemas.microsoft.com/office/drawing/2014/main" id="{08F76552-35F7-6153-5D14-F1ECF51899C5}"/>
              </a:ext>
            </a:extLst>
          </p:cNvPr>
          <p:cNvSpPr/>
          <p:nvPr/>
        </p:nvSpPr>
        <p:spPr>
          <a:xfrm>
            <a:off x="6192867" y="4902500"/>
            <a:ext cx="5597600" cy="15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3" name="Google Shape;163;p14">
            <a:extLst>
              <a:ext uri="{FF2B5EF4-FFF2-40B4-BE49-F238E27FC236}">
                <a16:creationId xmlns:a16="http://schemas.microsoft.com/office/drawing/2014/main" id="{6D2097DD-4261-1B0E-9455-CC71947C4E3D}"/>
              </a:ext>
            </a:extLst>
          </p:cNvPr>
          <p:cNvSpPr txBox="1"/>
          <p:nvPr/>
        </p:nvSpPr>
        <p:spPr>
          <a:xfrm>
            <a:off x="6196133" y="4551500"/>
            <a:ext cx="55976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Customer specific character &amp; segmentation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164;p14">
            <a:extLst>
              <a:ext uri="{FF2B5EF4-FFF2-40B4-BE49-F238E27FC236}">
                <a16:creationId xmlns:a16="http://schemas.microsoft.com/office/drawing/2014/main" id="{2969E1FD-7714-4414-EFBE-72C87470F01A}"/>
              </a:ext>
            </a:extLst>
          </p:cNvPr>
          <p:cNvSpPr/>
          <p:nvPr/>
        </p:nvSpPr>
        <p:spPr>
          <a:xfrm>
            <a:off x="393133" y="4914700"/>
            <a:ext cx="5597600" cy="15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5" name="Google Shape;165;p14">
            <a:extLst>
              <a:ext uri="{FF2B5EF4-FFF2-40B4-BE49-F238E27FC236}">
                <a16:creationId xmlns:a16="http://schemas.microsoft.com/office/drawing/2014/main" id="{38645C7E-9047-992C-DBBC-55179207496E}"/>
              </a:ext>
            </a:extLst>
          </p:cNvPr>
          <p:cNvSpPr txBox="1"/>
          <p:nvPr/>
        </p:nvSpPr>
        <p:spPr>
          <a:xfrm>
            <a:off x="393133" y="4551500"/>
            <a:ext cx="55976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Products/services uniqueness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91319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4;p14">
            <a:extLst>
              <a:ext uri="{FF2B5EF4-FFF2-40B4-BE49-F238E27FC236}">
                <a16:creationId xmlns:a16="http://schemas.microsoft.com/office/drawing/2014/main" id="{F5C49FB2-4D45-4592-A1DF-F108BD9514E9}"/>
              </a:ext>
            </a:extLst>
          </p:cNvPr>
          <p:cNvSpPr/>
          <p:nvPr/>
        </p:nvSpPr>
        <p:spPr>
          <a:xfrm>
            <a:off x="1" y="155401"/>
            <a:ext cx="145600" cy="338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5;p14">
            <a:extLst>
              <a:ext uri="{FF2B5EF4-FFF2-40B4-BE49-F238E27FC236}">
                <a16:creationId xmlns:a16="http://schemas.microsoft.com/office/drawing/2014/main" id="{E6CA2245-D9E3-FEFA-E911-A3663FF4649E}"/>
              </a:ext>
            </a:extLst>
          </p:cNvPr>
          <p:cNvSpPr txBox="1"/>
          <p:nvPr/>
        </p:nvSpPr>
        <p:spPr>
          <a:xfrm>
            <a:off x="252346" y="148037"/>
            <a:ext cx="5522853" cy="400069"/>
          </a:xfrm>
          <a:prstGeom prst="rect">
            <a:avLst/>
          </a:prstGeom>
          <a:noFill/>
          <a:ln>
            <a:noFill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" sz="2000" b="1" dirty="0">
                <a:solidFill>
                  <a:srgbClr val="103E76"/>
                </a:solidFill>
                <a:latin typeface="Poppins"/>
                <a:ea typeface="Poppins"/>
                <a:cs typeface="Poppins"/>
                <a:sym typeface="Poppins"/>
              </a:rPr>
              <a:t>VALUE PROPOSITION CANVAS</a:t>
            </a:r>
            <a:endParaRPr sz="2000" b="1" dirty="0">
              <a:solidFill>
                <a:srgbClr val="103E76"/>
              </a:solidFill>
            </a:endParaRPr>
          </a:p>
        </p:txBody>
      </p:sp>
      <p:sp>
        <p:nvSpPr>
          <p:cNvPr id="6" name="Google Shape;148;p14">
            <a:extLst>
              <a:ext uri="{FF2B5EF4-FFF2-40B4-BE49-F238E27FC236}">
                <a16:creationId xmlns:a16="http://schemas.microsoft.com/office/drawing/2014/main" id="{26DE6092-0D18-35DE-C442-1820752304AC}"/>
              </a:ext>
            </a:extLst>
          </p:cNvPr>
          <p:cNvSpPr/>
          <p:nvPr/>
        </p:nvSpPr>
        <p:spPr>
          <a:xfrm>
            <a:off x="393133" y="848300"/>
            <a:ext cx="2752000" cy="370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saja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tawarkan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kepada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membantu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menyelesaikan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masalah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dihadapi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i="1" dirty="0">
              <a:solidFill>
                <a:srgbClr val="0E0E0E"/>
              </a:solidFill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fitur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manfaat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dari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paling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dibutuhkan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oleh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7" name="Google Shape;149;p14">
            <a:extLst>
              <a:ext uri="{FF2B5EF4-FFF2-40B4-BE49-F238E27FC236}">
                <a16:creationId xmlns:a16="http://schemas.microsoft.com/office/drawing/2014/main" id="{FDDF6C2B-F6D2-E629-37AB-2FD57823409F}"/>
              </a:ext>
            </a:extLst>
          </p:cNvPr>
          <p:cNvSpPr txBox="1"/>
          <p:nvPr/>
        </p:nvSpPr>
        <p:spPr>
          <a:xfrm>
            <a:off x="393133" y="49956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Products/services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150;p14">
            <a:extLst>
              <a:ext uri="{FF2B5EF4-FFF2-40B4-BE49-F238E27FC236}">
                <a16:creationId xmlns:a16="http://schemas.microsoft.com/office/drawing/2014/main" id="{8669E59F-EB53-4B74-B9B7-A0BEC1C525B1}"/>
              </a:ext>
            </a:extLst>
          </p:cNvPr>
          <p:cNvSpPr/>
          <p:nvPr/>
        </p:nvSpPr>
        <p:spPr>
          <a:xfrm>
            <a:off x="3235900" y="848300"/>
            <a:ext cx="2752000" cy="16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000" i="1" dirty="0">
                <a:solidFill>
                  <a:srgbClr val="0E0E0E"/>
                </a:solidFill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menciptakan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manfaat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keuntungan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tambahan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bagi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membuat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merasa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puas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dan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senang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ketika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menggunakan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membantu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mencapai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tujuan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lebih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cepat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lebih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efisien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000" dirty="0">
              <a:latin typeface=""/>
            </a:endParaRPr>
          </a:p>
        </p:txBody>
      </p:sp>
      <p:sp>
        <p:nvSpPr>
          <p:cNvPr id="9" name="Google Shape;151;p14">
            <a:extLst>
              <a:ext uri="{FF2B5EF4-FFF2-40B4-BE49-F238E27FC236}">
                <a16:creationId xmlns:a16="http://schemas.microsoft.com/office/drawing/2014/main" id="{0A807809-A8F5-A29C-A711-3F86071F321E}"/>
              </a:ext>
            </a:extLst>
          </p:cNvPr>
          <p:cNvSpPr txBox="1"/>
          <p:nvPr/>
        </p:nvSpPr>
        <p:spPr>
          <a:xfrm>
            <a:off x="3235900" y="499567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Gain creators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52;p14">
            <a:extLst>
              <a:ext uri="{FF2B5EF4-FFF2-40B4-BE49-F238E27FC236}">
                <a16:creationId xmlns:a16="http://schemas.microsoft.com/office/drawing/2014/main" id="{F2754A73-7F46-3122-22D6-9E7A2247A221}"/>
              </a:ext>
            </a:extLst>
          </p:cNvPr>
          <p:cNvSpPr/>
          <p:nvPr/>
        </p:nvSpPr>
        <p:spPr>
          <a:xfrm>
            <a:off x="3235900" y="2861367"/>
            <a:ext cx="2752000" cy="169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Masalah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kesulitan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dihadapi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selesaikan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mengurangi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frustasi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rasa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sakit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dialami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ada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hambatan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ketidaknyamanan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dihilangkan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oleh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000" dirty="0">
              <a:latin typeface=""/>
            </a:endParaRPr>
          </a:p>
        </p:txBody>
      </p:sp>
      <p:sp>
        <p:nvSpPr>
          <p:cNvPr id="11" name="Google Shape;153;p14">
            <a:extLst>
              <a:ext uri="{FF2B5EF4-FFF2-40B4-BE49-F238E27FC236}">
                <a16:creationId xmlns:a16="http://schemas.microsoft.com/office/drawing/2014/main" id="{55F71840-4B36-BC7C-6D7E-FFCC5D421B27}"/>
              </a:ext>
            </a:extLst>
          </p:cNvPr>
          <p:cNvSpPr txBox="1"/>
          <p:nvPr/>
        </p:nvSpPr>
        <p:spPr>
          <a:xfrm>
            <a:off x="3235900" y="2515967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Pain relievers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54;p14">
            <a:extLst>
              <a:ext uri="{FF2B5EF4-FFF2-40B4-BE49-F238E27FC236}">
                <a16:creationId xmlns:a16="http://schemas.microsoft.com/office/drawing/2014/main" id="{8140D8D1-BBD8-CF11-C0A6-50DF87593303}"/>
              </a:ext>
            </a:extLst>
          </p:cNvPr>
          <p:cNvSpPr/>
          <p:nvPr/>
        </p:nvSpPr>
        <p:spPr>
          <a:xfrm>
            <a:off x="6211328" y="876367"/>
            <a:ext cx="2752000" cy="169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hasil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positif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diharapkan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dari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menggunakan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Manfaat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rasakan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membuat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merasa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telah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membuat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pilihan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tepat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membantu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meningkatkan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kualitas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hidup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pekerjaan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000" dirty="0">
              <a:latin typeface=""/>
            </a:endParaRPr>
          </a:p>
        </p:txBody>
      </p:sp>
      <p:sp>
        <p:nvSpPr>
          <p:cNvPr id="13" name="Google Shape;155;p14">
            <a:extLst>
              <a:ext uri="{FF2B5EF4-FFF2-40B4-BE49-F238E27FC236}">
                <a16:creationId xmlns:a16="http://schemas.microsoft.com/office/drawing/2014/main" id="{C8B93132-FCC5-B4F6-6ECC-8736E454E048}"/>
              </a:ext>
            </a:extLst>
          </p:cNvPr>
          <p:cNvSpPr txBox="1"/>
          <p:nvPr/>
        </p:nvSpPr>
        <p:spPr>
          <a:xfrm>
            <a:off x="6211333" y="527633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Gains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156;p14">
            <a:extLst>
              <a:ext uri="{FF2B5EF4-FFF2-40B4-BE49-F238E27FC236}">
                <a16:creationId xmlns:a16="http://schemas.microsoft.com/office/drawing/2014/main" id="{C6EAA48B-7E7B-D581-6588-1AA5239E6383}"/>
              </a:ext>
            </a:extLst>
          </p:cNvPr>
          <p:cNvSpPr/>
          <p:nvPr/>
        </p:nvSpPr>
        <p:spPr>
          <a:xfrm>
            <a:off x="6211328" y="2889433"/>
            <a:ext cx="2752000" cy="169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saja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masalah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terbesar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dihadapi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dalam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kehidupan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sehari-hari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pekerjaan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menyebabkan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frustasi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,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stres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,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merasa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tidak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puas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menjadi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hambatan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bagi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dalam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mencapai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tujuan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0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0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0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000" dirty="0">
              <a:latin typeface=""/>
            </a:endParaRPr>
          </a:p>
        </p:txBody>
      </p:sp>
      <p:sp>
        <p:nvSpPr>
          <p:cNvPr id="15" name="Google Shape;157;p14">
            <a:extLst>
              <a:ext uri="{FF2B5EF4-FFF2-40B4-BE49-F238E27FC236}">
                <a16:creationId xmlns:a16="http://schemas.microsoft.com/office/drawing/2014/main" id="{7BA9F42F-577E-5B6A-9BDA-F5CB04A499CB}"/>
              </a:ext>
            </a:extLst>
          </p:cNvPr>
          <p:cNvSpPr txBox="1"/>
          <p:nvPr/>
        </p:nvSpPr>
        <p:spPr>
          <a:xfrm>
            <a:off x="6211333" y="2544033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Pains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58;p14">
            <a:extLst>
              <a:ext uri="{FF2B5EF4-FFF2-40B4-BE49-F238E27FC236}">
                <a16:creationId xmlns:a16="http://schemas.microsoft.com/office/drawing/2014/main" id="{00FC5AF8-9594-AA17-9E7F-D162C3019C27}"/>
              </a:ext>
            </a:extLst>
          </p:cNvPr>
          <p:cNvSpPr/>
          <p:nvPr/>
        </p:nvSpPr>
        <p:spPr>
          <a:xfrm>
            <a:off x="9041761" y="876367"/>
            <a:ext cx="2752000" cy="370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tugas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pekerjaan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perlu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diselesaikan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oleh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kebutuhan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harus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dipenuhi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cara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membantu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mencapai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tujuan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17" name="Google Shape;159;p14">
            <a:extLst>
              <a:ext uri="{FF2B5EF4-FFF2-40B4-BE49-F238E27FC236}">
                <a16:creationId xmlns:a16="http://schemas.microsoft.com/office/drawing/2014/main" id="{FBEEDB7C-B3FC-711B-BC6A-08BFFCC0C608}"/>
              </a:ext>
            </a:extLst>
          </p:cNvPr>
          <p:cNvSpPr txBox="1"/>
          <p:nvPr/>
        </p:nvSpPr>
        <p:spPr>
          <a:xfrm>
            <a:off x="9041767" y="527633"/>
            <a:ext cx="2752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Customer need to do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60;p14">
            <a:extLst>
              <a:ext uri="{FF2B5EF4-FFF2-40B4-BE49-F238E27FC236}">
                <a16:creationId xmlns:a16="http://schemas.microsoft.com/office/drawing/2014/main" id="{8D110E75-3830-599E-8818-C0429CF1C661}"/>
              </a:ext>
            </a:extLst>
          </p:cNvPr>
          <p:cNvSpPr/>
          <p:nvPr/>
        </p:nvSpPr>
        <p:spPr>
          <a:xfrm>
            <a:off x="5775200" y="2243500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3E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9" name="Google Shape;161;p14">
            <a:extLst>
              <a:ext uri="{FF2B5EF4-FFF2-40B4-BE49-F238E27FC236}">
                <a16:creationId xmlns:a16="http://schemas.microsoft.com/office/drawing/2014/main" id="{BADFF093-7EBA-B029-1E95-98CB90EACEBB}"/>
              </a:ext>
            </a:extLst>
          </p:cNvPr>
          <p:cNvSpPr/>
          <p:nvPr/>
        </p:nvSpPr>
        <p:spPr>
          <a:xfrm flipH="1">
            <a:off x="6096000" y="2243500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0" name="Google Shape;162;p14">
            <a:extLst>
              <a:ext uri="{FF2B5EF4-FFF2-40B4-BE49-F238E27FC236}">
                <a16:creationId xmlns:a16="http://schemas.microsoft.com/office/drawing/2014/main" id="{10942C00-AD4F-1A43-2B46-5591800867B0}"/>
              </a:ext>
            </a:extLst>
          </p:cNvPr>
          <p:cNvSpPr/>
          <p:nvPr/>
        </p:nvSpPr>
        <p:spPr>
          <a:xfrm>
            <a:off x="6192867" y="4902500"/>
            <a:ext cx="5597600" cy="15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Siapa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saja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target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karakteristik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bisa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mengelompokkan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berdasarkan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kebutuhan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preferensi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harapan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dan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nilai-nilai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dimiliki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oleh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segmen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21" name="Google Shape;163;p14">
            <a:extLst>
              <a:ext uri="{FF2B5EF4-FFF2-40B4-BE49-F238E27FC236}">
                <a16:creationId xmlns:a16="http://schemas.microsoft.com/office/drawing/2014/main" id="{A7ED32D3-3D37-D95F-87C6-CD0DE20CEF3D}"/>
              </a:ext>
            </a:extLst>
          </p:cNvPr>
          <p:cNvSpPr txBox="1"/>
          <p:nvPr/>
        </p:nvSpPr>
        <p:spPr>
          <a:xfrm>
            <a:off x="6196133" y="4551500"/>
            <a:ext cx="55976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Customer specific character &amp; segmentation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164;p14">
            <a:extLst>
              <a:ext uri="{FF2B5EF4-FFF2-40B4-BE49-F238E27FC236}">
                <a16:creationId xmlns:a16="http://schemas.microsoft.com/office/drawing/2014/main" id="{39890525-ADE7-822C-50A4-67E8E8829AC4}"/>
              </a:ext>
            </a:extLst>
          </p:cNvPr>
          <p:cNvSpPr/>
          <p:nvPr/>
        </p:nvSpPr>
        <p:spPr>
          <a:xfrm>
            <a:off x="393133" y="4914700"/>
            <a:ext cx="5597600" cy="15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membuat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berbeda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dari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ditawarkan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pesaing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“Fitur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unik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hanya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tersedia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di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keunikan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memberikan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nilai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tambah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kepada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23" name="Google Shape;165;p14">
            <a:extLst>
              <a:ext uri="{FF2B5EF4-FFF2-40B4-BE49-F238E27FC236}">
                <a16:creationId xmlns:a16="http://schemas.microsoft.com/office/drawing/2014/main" id="{80F27513-5825-5A37-4D37-3AF9639DE34D}"/>
              </a:ext>
            </a:extLst>
          </p:cNvPr>
          <p:cNvSpPr txBox="1"/>
          <p:nvPr/>
        </p:nvSpPr>
        <p:spPr>
          <a:xfrm>
            <a:off x="393133" y="4551500"/>
            <a:ext cx="55976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Products/services uniqueness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55033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15">
            <a:extLst>
              <a:ext uri="{FF2B5EF4-FFF2-40B4-BE49-F238E27FC236}">
                <a16:creationId xmlns:a16="http://schemas.microsoft.com/office/drawing/2014/main" id="{F580B532-D774-82F2-F194-B31796A706D1}"/>
              </a:ext>
            </a:extLst>
          </p:cNvPr>
          <p:cNvSpPr/>
          <p:nvPr/>
        </p:nvSpPr>
        <p:spPr>
          <a:xfrm>
            <a:off x="1" y="155401"/>
            <a:ext cx="145600" cy="338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1;p15">
            <a:extLst>
              <a:ext uri="{FF2B5EF4-FFF2-40B4-BE49-F238E27FC236}">
                <a16:creationId xmlns:a16="http://schemas.microsoft.com/office/drawing/2014/main" id="{9F0EFF15-B433-4C35-DF2A-F2624A8523D1}"/>
              </a:ext>
            </a:extLst>
          </p:cNvPr>
          <p:cNvSpPr txBox="1"/>
          <p:nvPr/>
        </p:nvSpPr>
        <p:spPr>
          <a:xfrm>
            <a:off x="252347" y="148037"/>
            <a:ext cx="5499096" cy="400069"/>
          </a:xfrm>
          <a:prstGeom prst="rect">
            <a:avLst/>
          </a:prstGeom>
          <a:noFill/>
          <a:ln>
            <a:noFill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" sz="2000" b="1" dirty="0">
                <a:solidFill>
                  <a:srgbClr val="103E76"/>
                </a:solidFill>
                <a:latin typeface="Poppins"/>
                <a:ea typeface="Poppins"/>
                <a:cs typeface="Poppins"/>
                <a:sym typeface="Poppins"/>
              </a:rPr>
              <a:t>PORTER FIVE FORCES CANVAS</a:t>
            </a:r>
            <a:endParaRPr sz="2000" b="1" dirty="0">
              <a:solidFill>
                <a:srgbClr val="103E76"/>
              </a:solidFill>
            </a:endParaRPr>
          </a:p>
        </p:txBody>
      </p:sp>
      <p:sp>
        <p:nvSpPr>
          <p:cNvPr id="6" name="Google Shape;174;p15">
            <a:extLst>
              <a:ext uri="{FF2B5EF4-FFF2-40B4-BE49-F238E27FC236}">
                <a16:creationId xmlns:a16="http://schemas.microsoft.com/office/drawing/2014/main" id="{82B11690-DD62-3024-3A98-8DB31954B029}"/>
              </a:ext>
            </a:extLst>
          </p:cNvPr>
          <p:cNvSpPr/>
          <p:nvPr/>
        </p:nvSpPr>
        <p:spPr>
          <a:xfrm>
            <a:off x="393133" y="848300"/>
            <a:ext cx="3664800" cy="346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dirty="0">
              <a:latin typeface=""/>
            </a:endParaRPr>
          </a:p>
        </p:txBody>
      </p:sp>
      <p:sp>
        <p:nvSpPr>
          <p:cNvPr id="7" name="Google Shape;175;p15">
            <a:extLst>
              <a:ext uri="{FF2B5EF4-FFF2-40B4-BE49-F238E27FC236}">
                <a16:creationId xmlns:a16="http://schemas.microsoft.com/office/drawing/2014/main" id="{4CEE55C1-15F5-E644-6F04-44ACB4ED8D52}"/>
              </a:ext>
            </a:extLst>
          </p:cNvPr>
          <p:cNvSpPr txBox="1"/>
          <p:nvPr/>
        </p:nvSpPr>
        <p:spPr>
          <a:xfrm>
            <a:off x="393133" y="49956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Supplier power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176;p15">
            <a:extLst>
              <a:ext uri="{FF2B5EF4-FFF2-40B4-BE49-F238E27FC236}">
                <a16:creationId xmlns:a16="http://schemas.microsoft.com/office/drawing/2014/main" id="{F44769F4-B0C5-DDE8-D8C7-50EC4913F2D0}"/>
              </a:ext>
            </a:extLst>
          </p:cNvPr>
          <p:cNvSpPr/>
          <p:nvPr/>
        </p:nvSpPr>
        <p:spPr>
          <a:xfrm>
            <a:off x="393133" y="4637767"/>
            <a:ext cx="7661200" cy="184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F5C4246-4D01-EFFE-F73A-6FB2217413ED}"/>
              </a:ext>
            </a:extLst>
          </p:cNvPr>
          <p:cNvSpPr/>
          <p:nvPr/>
        </p:nvSpPr>
        <p:spPr>
          <a:xfrm>
            <a:off x="8125800" y="3018167"/>
            <a:ext cx="3664800" cy="346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dirty="0">
              <a:latin typeface=""/>
            </a:endParaRPr>
          </a:p>
        </p:txBody>
      </p:sp>
      <p:sp>
        <p:nvSpPr>
          <p:cNvPr id="10" name="Google Shape;178;p15">
            <a:extLst>
              <a:ext uri="{FF2B5EF4-FFF2-40B4-BE49-F238E27FC236}">
                <a16:creationId xmlns:a16="http://schemas.microsoft.com/office/drawing/2014/main" id="{0980DCB2-6C9F-6942-2ADC-59DB3612A095}"/>
              </a:ext>
            </a:extLst>
          </p:cNvPr>
          <p:cNvSpPr/>
          <p:nvPr/>
        </p:nvSpPr>
        <p:spPr>
          <a:xfrm>
            <a:off x="4124864" y="848300"/>
            <a:ext cx="7661200" cy="184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dirty="0">
              <a:latin typeface=""/>
            </a:endParaRPr>
          </a:p>
        </p:txBody>
      </p:sp>
      <p:sp>
        <p:nvSpPr>
          <p:cNvPr id="11" name="Google Shape;179;p15">
            <a:extLst>
              <a:ext uri="{FF2B5EF4-FFF2-40B4-BE49-F238E27FC236}">
                <a16:creationId xmlns:a16="http://schemas.microsoft.com/office/drawing/2014/main" id="{6019EC3D-F1FB-A7BB-52F5-D6A343C0D704}"/>
              </a:ext>
            </a:extLst>
          </p:cNvPr>
          <p:cNvSpPr txBox="1"/>
          <p:nvPr/>
        </p:nvSpPr>
        <p:spPr>
          <a:xfrm>
            <a:off x="393133" y="428009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Threat of substitution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80;p15">
            <a:extLst>
              <a:ext uri="{FF2B5EF4-FFF2-40B4-BE49-F238E27FC236}">
                <a16:creationId xmlns:a16="http://schemas.microsoft.com/office/drawing/2014/main" id="{6ED858B2-72A3-E031-687A-6C15B89D07C2}"/>
              </a:ext>
            </a:extLst>
          </p:cNvPr>
          <p:cNvSpPr txBox="1"/>
          <p:nvPr/>
        </p:nvSpPr>
        <p:spPr>
          <a:xfrm>
            <a:off x="8125800" y="2660495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Buyer power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81;p15">
            <a:extLst>
              <a:ext uri="{FF2B5EF4-FFF2-40B4-BE49-F238E27FC236}">
                <a16:creationId xmlns:a16="http://schemas.microsoft.com/office/drawing/2014/main" id="{43890C06-03CC-4219-185E-7A248282B2CF}"/>
              </a:ext>
            </a:extLst>
          </p:cNvPr>
          <p:cNvSpPr txBox="1"/>
          <p:nvPr/>
        </p:nvSpPr>
        <p:spPr>
          <a:xfrm>
            <a:off x="4149533" y="499565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Threat of new entry</a:t>
            </a:r>
            <a:endParaRPr sz="1067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182;p15">
            <a:extLst>
              <a:ext uri="{FF2B5EF4-FFF2-40B4-BE49-F238E27FC236}">
                <a16:creationId xmlns:a16="http://schemas.microsoft.com/office/drawing/2014/main" id="{359605A6-98A7-7782-D69D-F78608656359}"/>
              </a:ext>
            </a:extLst>
          </p:cNvPr>
          <p:cNvSpPr/>
          <p:nvPr/>
        </p:nvSpPr>
        <p:spPr>
          <a:xfrm>
            <a:off x="4124867" y="3018167"/>
            <a:ext cx="3929600" cy="1299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5" name="Google Shape;183;p15">
            <a:extLst>
              <a:ext uri="{FF2B5EF4-FFF2-40B4-BE49-F238E27FC236}">
                <a16:creationId xmlns:a16="http://schemas.microsoft.com/office/drawing/2014/main" id="{136F7651-265A-E1DD-42CB-77989E971F41}"/>
              </a:ext>
            </a:extLst>
          </p:cNvPr>
          <p:cNvSpPr txBox="1"/>
          <p:nvPr/>
        </p:nvSpPr>
        <p:spPr>
          <a:xfrm>
            <a:off x="4124867" y="2660495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Competitive rivalry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84;p15">
            <a:extLst>
              <a:ext uri="{FF2B5EF4-FFF2-40B4-BE49-F238E27FC236}">
                <a16:creationId xmlns:a16="http://schemas.microsoft.com/office/drawing/2014/main" id="{CE29C347-4EEF-8387-5BD3-AA282A770E78}"/>
              </a:ext>
            </a:extLst>
          </p:cNvPr>
          <p:cNvSpPr/>
          <p:nvPr/>
        </p:nvSpPr>
        <p:spPr>
          <a:xfrm rot="10800000" flipH="1">
            <a:off x="3925133" y="3211233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7" name="Google Shape;185;p15">
            <a:extLst>
              <a:ext uri="{FF2B5EF4-FFF2-40B4-BE49-F238E27FC236}">
                <a16:creationId xmlns:a16="http://schemas.microsoft.com/office/drawing/2014/main" id="{E55EEF60-A951-F115-D2A2-8ED57F05E2D2}"/>
              </a:ext>
            </a:extLst>
          </p:cNvPr>
          <p:cNvSpPr/>
          <p:nvPr/>
        </p:nvSpPr>
        <p:spPr>
          <a:xfrm flipH="1">
            <a:off x="7939701" y="3211233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8" name="Google Shape;186;p15">
            <a:extLst>
              <a:ext uri="{FF2B5EF4-FFF2-40B4-BE49-F238E27FC236}">
                <a16:creationId xmlns:a16="http://schemas.microsoft.com/office/drawing/2014/main" id="{E7268932-F06C-90AD-B943-1A5F29A93A26}"/>
              </a:ext>
            </a:extLst>
          </p:cNvPr>
          <p:cNvSpPr/>
          <p:nvPr/>
        </p:nvSpPr>
        <p:spPr>
          <a:xfrm rot="5400000" flipH="1">
            <a:off x="5774417" y="4023037"/>
            <a:ext cx="636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3E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9" name="Google Shape;187;p15">
            <a:extLst>
              <a:ext uri="{FF2B5EF4-FFF2-40B4-BE49-F238E27FC236}">
                <a16:creationId xmlns:a16="http://schemas.microsoft.com/office/drawing/2014/main" id="{3BDECE84-EACE-0BAF-91F0-92425E7786A5}"/>
              </a:ext>
            </a:extLst>
          </p:cNvPr>
          <p:cNvSpPr/>
          <p:nvPr/>
        </p:nvSpPr>
        <p:spPr>
          <a:xfrm rot="-5400000" flipH="1">
            <a:off x="5773451" y="2409304"/>
            <a:ext cx="636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3E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12678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15">
            <a:extLst>
              <a:ext uri="{FF2B5EF4-FFF2-40B4-BE49-F238E27FC236}">
                <a16:creationId xmlns:a16="http://schemas.microsoft.com/office/drawing/2014/main" id="{14F4804F-10E9-8A16-4CD0-24BA68799C5B}"/>
              </a:ext>
            </a:extLst>
          </p:cNvPr>
          <p:cNvSpPr/>
          <p:nvPr/>
        </p:nvSpPr>
        <p:spPr>
          <a:xfrm>
            <a:off x="1" y="155401"/>
            <a:ext cx="145600" cy="338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1;p15">
            <a:extLst>
              <a:ext uri="{FF2B5EF4-FFF2-40B4-BE49-F238E27FC236}">
                <a16:creationId xmlns:a16="http://schemas.microsoft.com/office/drawing/2014/main" id="{B6FC9652-0452-EC6E-CD17-AA7F8CA4A7E9}"/>
              </a:ext>
            </a:extLst>
          </p:cNvPr>
          <p:cNvSpPr txBox="1"/>
          <p:nvPr/>
        </p:nvSpPr>
        <p:spPr>
          <a:xfrm>
            <a:off x="252347" y="148037"/>
            <a:ext cx="5499096" cy="400069"/>
          </a:xfrm>
          <a:prstGeom prst="rect">
            <a:avLst/>
          </a:prstGeom>
          <a:noFill/>
          <a:ln>
            <a:noFill/>
          </a:ln>
          <a:effectLst>
            <a:outerShdw blurRad="25400" dist="127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" sz="2000" b="1" dirty="0">
                <a:solidFill>
                  <a:srgbClr val="103E76"/>
                </a:solidFill>
                <a:latin typeface="Poppins"/>
                <a:ea typeface="Poppins"/>
                <a:cs typeface="Poppins"/>
                <a:sym typeface="Poppins"/>
              </a:rPr>
              <a:t>PORTER FIVE FORCES CANVAS</a:t>
            </a:r>
            <a:endParaRPr sz="2000" b="1" dirty="0">
              <a:solidFill>
                <a:srgbClr val="103E76"/>
              </a:solidFill>
            </a:endParaRPr>
          </a:p>
        </p:txBody>
      </p:sp>
      <p:sp>
        <p:nvSpPr>
          <p:cNvPr id="6" name="Google Shape;174;p15">
            <a:extLst>
              <a:ext uri="{FF2B5EF4-FFF2-40B4-BE49-F238E27FC236}">
                <a16:creationId xmlns:a16="http://schemas.microsoft.com/office/drawing/2014/main" id="{E8DDAEF4-4DA4-5B39-71BD-252ECC7E4A3E}"/>
              </a:ext>
            </a:extLst>
          </p:cNvPr>
          <p:cNvSpPr/>
          <p:nvPr/>
        </p:nvSpPr>
        <p:spPr>
          <a:xfrm>
            <a:off x="393133" y="848300"/>
            <a:ext cx="3664800" cy="346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1: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Berapa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banyak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pemasok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menyediakan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baku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butuhkan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Seberapa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unik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sulit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untuk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digantikan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tawarkan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2: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terjadi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pada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biaya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operasional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jika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salah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satu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pemasok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menaikkan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harga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menurunkan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kualitas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memiliki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alternatif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3: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pemasok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memiliki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kendali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atas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distribusi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,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bisakah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langsung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mengakses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pasar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7" name="Google Shape;175;p15">
            <a:extLst>
              <a:ext uri="{FF2B5EF4-FFF2-40B4-BE49-F238E27FC236}">
                <a16:creationId xmlns:a16="http://schemas.microsoft.com/office/drawing/2014/main" id="{C2CF59AA-78D8-B600-CBF1-D02D9B187D90}"/>
              </a:ext>
            </a:extLst>
          </p:cNvPr>
          <p:cNvSpPr txBox="1"/>
          <p:nvPr/>
        </p:nvSpPr>
        <p:spPr>
          <a:xfrm>
            <a:off x="393133" y="49956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Supplier power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176;p15">
            <a:extLst>
              <a:ext uri="{FF2B5EF4-FFF2-40B4-BE49-F238E27FC236}">
                <a16:creationId xmlns:a16="http://schemas.microsoft.com/office/drawing/2014/main" id="{60156845-C71C-014A-453A-C0546EDA53E6}"/>
              </a:ext>
            </a:extLst>
          </p:cNvPr>
          <p:cNvSpPr/>
          <p:nvPr/>
        </p:nvSpPr>
        <p:spPr>
          <a:xfrm>
            <a:off x="393133" y="4637767"/>
            <a:ext cx="7661200" cy="184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ID" sz="1200" b="1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1: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alternatif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tersedia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di pasar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menggantikan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layanan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Seberapa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besar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kemungkinan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beralih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alternatif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2: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memiliki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fitur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unik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nilai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tambah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sulit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digantikan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oleh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alternatif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lain?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membuat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tetap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memilih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produk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3: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perubahan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dalam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preferensi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konsumen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teknologi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memengaruhi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ancaman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dari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substitusi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bisa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menyesuaikan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strategi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untuk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menghadapi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perubahan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2E13B25D-9B1C-9EAA-A85A-42AE1FA4A800}"/>
              </a:ext>
            </a:extLst>
          </p:cNvPr>
          <p:cNvSpPr/>
          <p:nvPr/>
        </p:nvSpPr>
        <p:spPr>
          <a:xfrm>
            <a:off x="8125800" y="3018167"/>
            <a:ext cx="3664800" cy="346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1: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Seberapa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sensitif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terhadap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perubahan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harga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mudah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beralih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pesaing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jika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ada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perbedaan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harga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kecil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2: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nilai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tambah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unik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berikan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kepada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tidak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ditawarkan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oleh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pesaing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bisa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memperkuat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nilai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3: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pelanggan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cenderung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membeli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dalam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jumlah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besar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pengaruhnya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terhadap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negosiasi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harga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dan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kontrak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jangka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panjang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lang="en-ID" sz="1200" dirty="0"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10" name="Google Shape;178;p15">
            <a:extLst>
              <a:ext uri="{FF2B5EF4-FFF2-40B4-BE49-F238E27FC236}">
                <a16:creationId xmlns:a16="http://schemas.microsoft.com/office/drawing/2014/main" id="{427D4959-DB23-0AE8-DB19-EE451DBD8338}"/>
              </a:ext>
            </a:extLst>
          </p:cNvPr>
          <p:cNvSpPr/>
          <p:nvPr/>
        </p:nvSpPr>
        <p:spPr>
          <a:xfrm>
            <a:off x="4124864" y="848300"/>
            <a:ext cx="7661200" cy="184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1: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saja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hambatan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perusahaan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baru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ingin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masuk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industri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memiliki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perlindungan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paten,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merek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kuat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,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modal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tinggi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i="1" dirty="0">
              <a:solidFill>
                <a:srgbClr val="0E0E0E"/>
              </a:solidFill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2: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perubahan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teknologi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peraturan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mempermudah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mempersulit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perusahaan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baru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untuk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masuk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ke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pasar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i="1" dirty="0">
              <a:solidFill>
                <a:srgbClr val="0E0E0E"/>
              </a:solidFill>
              <a:latin typeface=""/>
            </a:endParaRPr>
          </a:p>
          <a:p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12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1200" b="1" dirty="0">
                <a:solidFill>
                  <a:srgbClr val="0E0E0E"/>
                </a:solidFill>
                <a:effectLst/>
                <a:latin typeface=""/>
              </a:rPr>
              <a:t> 3:</a:t>
            </a:r>
            <a:r>
              <a:rPr lang="en-ID" sz="12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ada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tren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perubahan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pasar yang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menarik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perusahaan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baru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untuk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masuk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dapat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memanfaatkan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tren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tersebut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untuk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mempertahankan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posisi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12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12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12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1200" dirty="0">
              <a:latin typeface=""/>
            </a:endParaRPr>
          </a:p>
        </p:txBody>
      </p:sp>
      <p:sp>
        <p:nvSpPr>
          <p:cNvPr id="11" name="Google Shape;179;p15">
            <a:extLst>
              <a:ext uri="{FF2B5EF4-FFF2-40B4-BE49-F238E27FC236}">
                <a16:creationId xmlns:a16="http://schemas.microsoft.com/office/drawing/2014/main" id="{F11BE85D-BC51-E7CE-2DF7-833328803223}"/>
              </a:ext>
            </a:extLst>
          </p:cNvPr>
          <p:cNvSpPr txBox="1"/>
          <p:nvPr/>
        </p:nvSpPr>
        <p:spPr>
          <a:xfrm>
            <a:off x="393133" y="4280099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Threat of substitution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80;p15">
            <a:extLst>
              <a:ext uri="{FF2B5EF4-FFF2-40B4-BE49-F238E27FC236}">
                <a16:creationId xmlns:a16="http://schemas.microsoft.com/office/drawing/2014/main" id="{765C22BD-3E86-1FF1-6E18-E6C0E11B9F0E}"/>
              </a:ext>
            </a:extLst>
          </p:cNvPr>
          <p:cNvSpPr txBox="1"/>
          <p:nvPr/>
        </p:nvSpPr>
        <p:spPr>
          <a:xfrm>
            <a:off x="8125800" y="2660495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Buyer power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81;p15">
            <a:extLst>
              <a:ext uri="{FF2B5EF4-FFF2-40B4-BE49-F238E27FC236}">
                <a16:creationId xmlns:a16="http://schemas.microsoft.com/office/drawing/2014/main" id="{6EEBC198-6EC5-B92D-E2CE-FA66CBFDE299}"/>
              </a:ext>
            </a:extLst>
          </p:cNvPr>
          <p:cNvSpPr txBox="1"/>
          <p:nvPr/>
        </p:nvSpPr>
        <p:spPr>
          <a:xfrm>
            <a:off x="4149533" y="499565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Threat of new entry</a:t>
            </a:r>
            <a:endParaRPr sz="1067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182;p15">
            <a:extLst>
              <a:ext uri="{FF2B5EF4-FFF2-40B4-BE49-F238E27FC236}">
                <a16:creationId xmlns:a16="http://schemas.microsoft.com/office/drawing/2014/main" id="{6750D490-A57F-F563-446C-856D7A8EEB9B}"/>
              </a:ext>
            </a:extLst>
          </p:cNvPr>
          <p:cNvSpPr/>
          <p:nvPr/>
        </p:nvSpPr>
        <p:spPr>
          <a:xfrm>
            <a:off x="4124867" y="3018167"/>
            <a:ext cx="3929600" cy="1299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D" sz="8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800" b="1" dirty="0">
                <a:solidFill>
                  <a:srgbClr val="0E0E0E"/>
                </a:solidFill>
                <a:effectLst/>
                <a:latin typeface=""/>
              </a:rPr>
              <a:t> 1:</a:t>
            </a:r>
            <a:r>
              <a:rPr lang="en-ID" sz="8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Berapa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banyak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pesaing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hadapi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, dan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posisi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mereka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dibandingkan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dengan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dalam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hal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pangsa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pasar dan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reputasi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8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8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800" b="1" dirty="0">
                <a:solidFill>
                  <a:srgbClr val="0E0E0E"/>
                </a:solidFill>
                <a:effectLst/>
                <a:latin typeface=""/>
              </a:rPr>
              <a:t> 2:</a:t>
            </a:r>
            <a:r>
              <a:rPr lang="en-ID" sz="8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keunggulan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kompetitif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utama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yang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membedakan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dari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pesaing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kita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bisa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memperkuat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mempertahankan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keunggulan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800" dirty="0">
              <a:solidFill>
                <a:srgbClr val="0E0E0E"/>
              </a:solidFill>
              <a:effectLst/>
              <a:latin typeface=""/>
            </a:endParaRPr>
          </a:p>
          <a:p>
            <a:r>
              <a:rPr lang="en-ID" sz="800" b="1" dirty="0" err="1">
                <a:solidFill>
                  <a:srgbClr val="0E0E0E"/>
                </a:solidFill>
                <a:effectLst/>
                <a:latin typeface=""/>
              </a:rPr>
              <a:t>Pertanyaan</a:t>
            </a:r>
            <a:r>
              <a:rPr lang="en-ID" sz="800" b="1" dirty="0">
                <a:solidFill>
                  <a:srgbClr val="0E0E0E"/>
                </a:solidFill>
                <a:effectLst/>
                <a:latin typeface=""/>
              </a:rPr>
              <a:t> 3:</a:t>
            </a:r>
            <a:r>
              <a:rPr lang="en-ID" sz="800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“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Bagaimana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tren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pertumbuhan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industri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?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Apakah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industri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ini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cenderung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mengalami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pertumbuhan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atau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stagnasi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, dan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apa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artinya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bagi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 </a:t>
            </a:r>
            <a:r>
              <a:rPr lang="en-ID" sz="800" i="1" dirty="0" err="1">
                <a:solidFill>
                  <a:srgbClr val="0E0E0E"/>
                </a:solidFill>
                <a:effectLst/>
                <a:latin typeface=""/>
              </a:rPr>
              <a:t>persaingan</a:t>
            </a:r>
            <a:r>
              <a:rPr lang="en-ID" sz="800" i="1" dirty="0">
                <a:solidFill>
                  <a:srgbClr val="0E0E0E"/>
                </a:solidFill>
                <a:effectLst/>
                <a:latin typeface=""/>
              </a:rPr>
              <a:t>?”</a:t>
            </a:r>
            <a:endParaRPr lang="en-ID" sz="800" dirty="0">
              <a:solidFill>
                <a:srgbClr val="0E0E0E"/>
              </a:solidFill>
              <a:effectLst/>
              <a:latin typeface=""/>
            </a:endParaRPr>
          </a:p>
          <a:p>
            <a:pPr algn="ctr"/>
            <a:endParaRPr sz="800" dirty="0">
              <a:latin typeface=""/>
            </a:endParaRPr>
          </a:p>
        </p:txBody>
      </p:sp>
      <p:sp>
        <p:nvSpPr>
          <p:cNvPr id="15" name="Google Shape;183;p15">
            <a:extLst>
              <a:ext uri="{FF2B5EF4-FFF2-40B4-BE49-F238E27FC236}">
                <a16:creationId xmlns:a16="http://schemas.microsoft.com/office/drawing/2014/main" id="{937A88C2-B9DD-2C4B-43F4-73B137C75A79}"/>
              </a:ext>
            </a:extLst>
          </p:cNvPr>
          <p:cNvSpPr txBox="1"/>
          <p:nvPr/>
        </p:nvSpPr>
        <p:spPr>
          <a:xfrm>
            <a:off x="4124867" y="2660495"/>
            <a:ext cx="2570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Competitive rivalry</a:t>
            </a:r>
            <a:endParaRPr sz="10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84;p15">
            <a:extLst>
              <a:ext uri="{FF2B5EF4-FFF2-40B4-BE49-F238E27FC236}">
                <a16:creationId xmlns:a16="http://schemas.microsoft.com/office/drawing/2014/main" id="{98545019-86F0-8574-1453-2189C8384F49}"/>
              </a:ext>
            </a:extLst>
          </p:cNvPr>
          <p:cNvSpPr/>
          <p:nvPr/>
        </p:nvSpPr>
        <p:spPr>
          <a:xfrm rot="10800000" flipH="1">
            <a:off x="3925133" y="3211233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7" name="Google Shape;185;p15">
            <a:extLst>
              <a:ext uri="{FF2B5EF4-FFF2-40B4-BE49-F238E27FC236}">
                <a16:creationId xmlns:a16="http://schemas.microsoft.com/office/drawing/2014/main" id="{46256431-A9C5-B22A-4D83-0A83E7C23CDD}"/>
              </a:ext>
            </a:extLst>
          </p:cNvPr>
          <p:cNvSpPr/>
          <p:nvPr/>
        </p:nvSpPr>
        <p:spPr>
          <a:xfrm flipH="1">
            <a:off x="7939701" y="3211233"/>
            <a:ext cx="320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8" name="Google Shape;186;p15">
            <a:extLst>
              <a:ext uri="{FF2B5EF4-FFF2-40B4-BE49-F238E27FC236}">
                <a16:creationId xmlns:a16="http://schemas.microsoft.com/office/drawing/2014/main" id="{EBD1497C-42DD-3762-7C76-B5969020882E}"/>
              </a:ext>
            </a:extLst>
          </p:cNvPr>
          <p:cNvSpPr/>
          <p:nvPr/>
        </p:nvSpPr>
        <p:spPr>
          <a:xfrm rot="5400000" flipH="1">
            <a:off x="5774417" y="4023037"/>
            <a:ext cx="636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3E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9" name="Google Shape;187;p15">
            <a:extLst>
              <a:ext uri="{FF2B5EF4-FFF2-40B4-BE49-F238E27FC236}">
                <a16:creationId xmlns:a16="http://schemas.microsoft.com/office/drawing/2014/main" id="{08A0585E-41CF-F01C-8CEB-9D7429F1BFCF}"/>
              </a:ext>
            </a:extLst>
          </p:cNvPr>
          <p:cNvSpPr/>
          <p:nvPr/>
        </p:nvSpPr>
        <p:spPr>
          <a:xfrm rot="-5400000" flipH="1">
            <a:off x="5773451" y="2409304"/>
            <a:ext cx="636800" cy="9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3E7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9554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2027</Words>
  <Application>Microsoft Macintosh PowerPoint</Application>
  <PresentationFormat>Widescreen</PresentationFormat>
  <Paragraphs>288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Poppins</vt:lpstr>
      <vt:lpstr>Poppins SemiBold</vt:lpstr>
      <vt:lpstr>Roboto</vt:lpstr>
      <vt:lpstr>Segoe UI</vt:lpstr>
      <vt:lpstr>Wingdings</vt:lpstr>
      <vt:lpstr>Wingdings 2</vt:lpstr>
      <vt:lpstr>Office Theme</vt:lpstr>
      <vt:lpstr>Business Model Canvas</vt:lpstr>
      <vt:lpstr>APA ITU MODEL BISNIS?</vt:lpstr>
      <vt:lpstr>KRITERIA MODEL BISNIS</vt:lpstr>
      <vt:lpstr>KONSEP MODEL BISNIS KANVAS</vt:lpstr>
      <vt:lpstr>9 BUILDING BLOCKS MODEL BISNIS KANVAS</vt:lpstr>
      <vt:lpstr>CUSTOMER SEGMENTS</vt:lpstr>
      <vt:lpstr>VALUE PROPOSITIONS</vt:lpstr>
      <vt:lpstr>CHANNELS</vt:lpstr>
      <vt:lpstr>CUSTOMER RELATIONSHIPS</vt:lpstr>
      <vt:lpstr>REVENUE STREAMS</vt:lpstr>
      <vt:lpstr>KEY RESOURCES</vt:lpstr>
      <vt:lpstr>KEY ACTIVITIES</vt:lpstr>
      <vt:lpstr>KEY PARTNERSHIPS</vt:lpstr>
      <vt:lpstr>COST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</dc:title>
  <dc:creator>Lienggar Rahadiantino</dc:creator>
  <cp:lastModifiedBy>Lienggar Rahadiantino</cp:lastModifiedBy>
  <cp:revision>5</cp:revision>
  <dcterms:created xsi:type="dcterms:W3CDTF">2024-10-17T06:08:08Z</dcterms:created>
  <dcterms:modified xsi:type="dcterms:W3CDTF">2024-10-17T09:29:08Z</dcterms:modified>
</cp:coreProperties>
</file>